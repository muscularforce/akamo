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1" r:id="rId3"/>
    <p:sldId id="285" r:id="rId4"/>
    <p:sldId id="258" r:id="rId5"/>
    <p:sldId id="262" r:id="rId6"/>
    <p:sldId id="263" r:id="rId7"/>
    <p:sldId id="264" r:id="rId8"/>
    <p:sldId id="259" r:id="rId9"/>
    <p:sldId id="28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1AF654A-9115-482C-8E64-26941B1E3CC1}">
          <p14:sldIdLst>
            <p14:sldId id="257"/>
            <p14:sldId id="261"/>
          </p14:sldIdLst>
        </p14:section>
        <p14:section name="Section 1" id="{DAE78006-736A-438A-BE10-0DF842183547}">
          <p14:sldIdLst>
            <p14:sldId id="285"/>
            <p14:sldId id="258"/>
            <p14:sldId id="262"/>
            <p14:sldId id="263"/>
            <p14:sldId id="264"/>
            <p14:sldId id="259"/>
            <p14:sldId id="28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54035"/>
    <a:srgbClr val="032B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9ADDE7-241F-40E2-B2D3-65E1974CE569}" v="233" dt="2026-05-30T13:46:25.1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7" d="100"/>
          <a:sy n="47" d="100"/>
        </p:scale>
        <p:origin x="1046" y="43"/>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519CB-6FF5-60E8-0DDE-6D55D0F3943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4023539-6983-F070-70CB-17818DD87F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CDAA988-E640-967E-3292-EA4560EF44A2}"/>
              </a:ext>
            </a:extLst>
          </p:cNvPr>
          <p:cNvSpPr>
            <a:spLocks noGrp="1"/>
          </p:cNvSpPr>
          <p:nvPr>
            <p:ph type="dt" sz="half" idx="10"/>
          </p:nvPr>
        </p:nvSpPr>
        <p:spPr/>
        <p:txBody>
          <a:bodyPr/>
          <a:lstStyle/>
          <a:p>
            <a:fld id="{16152CB4-2176-4AEB-A95E-C3857FC5091F}" type="datetimeFigureOut">
              <a:rPr lang="en-IN" smtClean="0"/>
              <a:t>02-06-2026</a:t>
            </a:fld>
            <a:endParaRPr lang="en-IN" dirty="0"/>
          </a:p>
        </p:txBody>
      </p:sp>
      <p:sp>
        <p:nvSpPr>
          <p:cNvPr id="5" name="Footer Placeholder 4">
            <a:extLst>
              <a:ext uri="{FF2B5EF4-FFF2-40B4-BE49-F238E27FC236}">
                <a16:creationId xmlns:a16="http://schemas.microsoft.com/office/drawing/2014/main" id="{63325A18-1AE3-B4CD-E488-EE4314D684ED}"/>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FE2AE183-B964-1295-AB17-1468C893670D}"/>
              </a:ext>
            </a:extLst>
          </p:cNvPr>
          <p:cNvSpPr>
            <a:spLocks noGrp="1"/>
          </p:cNvSpPr>
          <p:nvPr>
            <p:ph type="sldNum" sz="quarter" idx="12"/>
          </p:nvPr>
        </p:nvSpPr>
        <p:spPr/>
        <p:txBody>
          <a:bodyPr/>
          <a:lstStyle/>
          <a:p>
            <a:fld id="{059E8D4F-D960-4199-BFB0-0239CF5D57B6}" type="slidenum">
              <a:rPr lang="en-IN" smtClean="0"/>
              <a:t>‹#›</a:t>
            </a:fld>
            <a:endParaRPr lang="en-IN" dirty="0"/>
          </a:p>
        </p:txBody>
      </p:sp>
    </p:spTree>
    <p:extLst>
      <p:ext uri="{BB962C8B-B14F-4D97-AF65-F5344CB8AC3E}">
        <p14:creationId xmlns:p14="http://schemas.microsoft.com/office/powerpoint/2010/main" val="3439615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28B5F-73DC-D98C-F1DE-2F50462EC3D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35B10E1-5D73-DEEA-7CE2-FE98F719A1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A85F16-45A8-C453-B4AF-32625DBD2D63}"/>
              </a:ext>
            </a:extLst>
          </p:cNvPr>
          <p:cNvSpPr>
            <a:spLocks noGrp="1"/>
          </p:cNvSpPr>
          <p:nvPr>
            <p:ph type="dt" sz="half" idx="10"/>
          </p:nvPr>
        </p:nvSpPr>
        <p:spPr/>
        <p:txBody>
          <a:bodyPr/>
          <a:lstStyle/>
          <a:p>
            <a:fld id="{16152CB4-2176-4AEB-A95E-C3857FC5091F}" type="datetimeFigureOut">
              <a:rPr lang="en-IN" smtClean="0"/>
              <a:t>02-06-2026</a:t>
            </a:fld>
            <a:endParaRPr lang="en-IN" dirty="0"/>
          </a:p>
        </p:txBody>
      </p:sp>
      <p:sp>
        <p:nvSpPr>
          <p:cNvPr id="5" name="Footer Placeholder 4">
            <a:extLst>
              <a:ext uri="{FF2B5EF4-FFF2-40B4-BE49-F238E27FC236}">
                <a16:creationId xmlns:a16="http://schemas.microsoft.com/office/drawing/2014/main" id="{7A57BEC2-38AA-AC28-B298-11BD2D6B94D9}"/>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C62E6CAA-EA0C-3C32-4131-68C00DC744FE}"/>
              </a:ext>
            </a:extLst>
          </p:cNvPr>
          <p:cNvSpPr>
            <a:spLocks noGrp="1"/>
          </p:cNvSpPr>
          <p:nvPr>
            <p:ph type="sldNum" sz="quarter" idx="12"/>
          </p:nvPr>
        </p:nvSpPr>
        <p:spPr/>
        <p:txBody>
          <a:bodyPr/>
          <a:lstStyle/>
          <a:p>
            <a:fld id="{059E8D4F-D960-4199-BFB0-0239CF5D57B6}" type="slidenum">
              <a:rPr lang="en-IN" smtClean="0"/>
              <a:t>‹#›</a:t>
            </a:fld>
            <a:endParaRPr lang="en-IN" dirty="0"/>
          </a:p>
        </p:txBody>
      </p:sp>
    </p:spTree>
    <p:extLst>
      <p:ext uri="{BB962C8B-B14F-4D97-AF65-F5344CB8AC3E}">
        <p14:creationId xmlns:p14="http://schemas.microsoft.com/office/powerpoint/2010/main" val="3006596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3D943-0988-CD01-80DF-8A9670D2DB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3B323DB-E7F6-2C20-9189-D59125D70F8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B0F6F7C-2C61-7949-4737-0565FA35A84E}"/>
              </a:ext>
            </a:extLst>
          </p:cNvPr>
          <p:cNvSpPr>
            <a:spLocks noGrp="1"/>
          </p:cNvSpPr>
          <p:nvPr>
            <p:ph type="dt" sz="half" idx="10"/>
          </p:nvPr>
        </p:nvSpPr>
        <p:spPr/>
        <p:txBody>
          <a:bodyPr/>
          <a:lstStyle/>
          <a:p>
            <a:fld id="{16152CB4-2176-4AEB-A95E-C3857FC5091F}" type="datetimeFigureOut">
              <a:rPr lang="en-IN" smtClean="0"/>
              <a:t>02-06-2026</a:t>
            </a:fld>
            <a:endParaRPr lang="en-IN" dirty="0"/>
          </a:p>
        </p:txBody>
      </p:sp>
      <p:sp>
        <p:nvSpPr>
          <p:cNvPr id="5" name="Footer Placeholder 4">
            <a:extLst>
              <a:ext uri="{FF2B5EF4-FFF2-40B4-BE49-F238E27FC236}">
                <a16:creationId xmlns:a16="http://schemas.microsoft.com/office/drawing/2014/main" id="{991C4560-069D-0B04-C3F4-D28EE9F257E4}"/>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613F9F40-006A-EC04-96CB-731FB0AD1499}"/>
              </a:ext>
            </a:extLst>
          </p:cNvPr>
          <p:cNvSpPr>
            <a:spLocks noGrp="1"/>
          </p:cNvSpPr>
          <p:nvPr>
            <p:ph type="sldNum" sz="quarter" idx="12"/>
          </p:nvPr>
        </p:nvSpPr>
        <p:spPr/>
        <p:txBody>
          <a:bodyPr/>
          <a:lstStyle/>
          <a:p>
            <a:fld id="{059E8D4F-D960-4199-BFB0-0239CF5D57B6}" type="slidenum">
              <a:rPr lang="en-IN" smtClean="0"/>
              <a:t>‹#›</a:t>
            </a:fld>
            <a:endParaRPr lang="en-IN" dirty="0"/>
          </a:p>
        </p:txBody>
      </p:sp>
    </p:spTree>
    <p:extLst>
      <p:ext uri="{BB962C8B-B14F-4D97-AF65-F5344CB8AC3E}">
        <p14:creationId xmlns:p14="http://schemas.microsoft.com/office/powerpoint/2010/main" val="24956016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2DED6-B04C-87C3-673E-B645DDC2D09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49835D7-7A6E-8B5A-3DA5-7A5FCD6EF23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F271A7A-7698-95D9-D7DE-F6B9E8C25A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9C05565-D132-7E1F-279A-29A6A3413CD2}"/>
              </a:ext>
            </a:extLst>
          </p:cNvPr>
          <p:cNvSpPr>
            <a:spLocks noGrp="1"/>
          </p:cNvSpPr>
          <p:nvPr>
            <p:ph type="dt" sz="half" idx="10"/>
          </p:nvPr>
        </p:nvSpPr>
        <p:spPr/>
        <p:txBody>
          <a:bodyPr/>
          <a:lstStyle/>
          <a:p>
            <a:fld id="{16152CB4-2176-4AEB-A95E-C3857FC5091F}" type="datetimeFigureOut">
              <a:rPr lang="en-IN" smtClean="0"/>
              <a:t>02-06-2026</a:t>
            </a:fld>
            <a:endParaRPr lang="en-IN" dirty="0"/>
          </a:p>
        </p:txBody>
      </p:sp>
      <p:sp>
        <p:nvSpPr>
          <p:cNvPr id="6" name="Footer Placeholder 5">
            <a:extLst>
              <a:ext uri="{FF2B5EF4-FFF2-40B4-BE49-F238E27FC236}">
                <a16:creationId xmlns:a16="http://schemas.microsoft.com/office/drawing/2014/main" id="{779402F7-73C9-BCBB-4EEB-691EF2CE309C}"/>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3C8C9431-85C4-253E-DB39-11BEE1F021AF}"/>
              </a:ext>
            </a:extLst>
          </p:cNvPr>
          <p:cNvSpPr>
            <a:spLocks noGrp="1"/>
          </p:cNvSpPr>
          <p:nvPr>
            <p:ph type="sldNum" sz="quarter" idx="12"/>
          </p:nvPr>
        </p:nvSpPr>
        <p:spPr/>
        <p:txBody>
          <a:bodyPr/>
          <a:lstStyle/>
          <a:p>
            <a:fld id="{059E8D4F-D960-4199-BFB0-0239CF5D57B6}" type="slidenum">
              <a:rPr lang="en-IN" smtClean="0"/>
              <a:t>‹#›</a:t>
            </a:fld>
            <a:endParaRPr lang="en-IN" dirty="0"/>
          </a:p>
        </p:txBody>
      </p:sp>
    </p:spTree>
    <p:extLst>
      <p:ext uri="{BB962C8B-B14F-4D97-AF65-F5344CB8AC3E}">
        <p14:creationId xmlns:p14="http://schemas.microsoft.com/office/powerpoint/2010/main" val="2823554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BEDE5-6351-FFB4-1CF7-14AD21B269B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5AD27A1-BECB-90CD-3243-FD57563941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942EA0-5D75-AB53-9ED0-F8694FEBB45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448AC48-B4C9-AFC3-58F2-1C945224DBA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5D7ADB7-4AB4-202C-B19D-1090B89493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616560A-BD4F-3C15-B48F-FA9351DF5048}"/>
              </a:ext>
            </a:extLst>
          </p:cNvPr>
          <p:cNvSpPr>
            <a:spLocks noGrp="1"/>
          </p:cNvSpPr>
          <p:nvPr>
            <p:ph type="dt" sz="half" idx="10"/>
          </p:nvPr>
        </p:nvSpPr>
        <p:spPr/>
        <p:txBody>
          <a:bodyPr/>
          <a:lstStyle/>
          <a:p>
            <a:fld id="{16152CB4-2176-4AEB-A95E-C3857FC5091F}" type="datetimeFigureOut">
              <a:rPr lang="en-IN" smtClean="0"/>
              <a:t>02-06-2026</a:t>
            </a:fld>
            <a:endParaRPr lang="en-IN" dirty="0"/>
          </a:p>
        </p:txBody>
      </p:sp>
      <p:sp>
        <p:nvSpPr>
          <p:cNvPr id="8" name="Footer Placeholder 7">
            <a:extLst>
              <a:ext uri="{FF2B5EF4-FFF2-40B4-BE49-F238E27FC236}">
                <a16:creationId xmlns:a16="http://schemas.microsoft.com/office/drawing/2014/main" id="{D54A811D-4ACE-5C40-4355-DB3E8C38921F}"/>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E48F7A08-6B30-6A36-FC83-AE2EB6C24F3D}"/>
              </a:ext>
            </a:extLst>
          </p:cNvPr>
          <p:cNvSpPr>
            <a:spLocks noGrp="1"/>
          </p:cNvSpPr>
          <p:nvPr>
            <p:ph type="sldNum" sz="quarter" idx="12"/>
          </p:nvPr>
        </p:nvSpPr>
        <p:spPr/>
        <p:txBody>
          <a:bodyPr/>
          <a:lstStyle/>
          <a:p>
            <a:fld id="{059E8D4F-D960-4199-BFB0-0239CF5D57B6}" type="slidenum">
              <a:rPr lang="en-IN" smtClean="0"/>
              <a:t>‹#›</a:t>
            </a:fld>
            <a:endParaRPr lang="en-IN" dirty="0"/>
          </a:p>
        </p:txBody>
      </p:sp>
    </p:spTree>
    <p:extLst>
      <p:ext uri="{BB962C8B-B14F-4D97-AF65-F5344CB8AC3E}">
        <p14:creationId xmlns:p14="http://schemas.microsoft.com/office/powerpoint/2010/main" val="23310840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9F6B0-7710-E356-0409-C92B3FAF131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FF99424-C8DC-D9FE-665E-0CED24F95D39}"/>
              </a:ext>
            </a:extLst>
          </p:cNvPr>
          <p:cNvSpPr>
            <a:spLocks noGrp="1"/>
          </p:cNvSpPr>
          <p:nvPr>
            <p:ph type="dt" sz="half" idx="10"/>
          </p:nvPr>
        </p:nvSpPr>
        <p:spPr/>
        <p:txBody>
          <a:bodyPr/>
          <a:lstStyle/>
          <a:p>
            <a:fld id="{16152CB4-2176-4AEB-A95E-C3857FC5091F}" type="datetimeFigureOut">
              <a:rPr lang="en-IN" smtClean="0"/>
              <a:t>02-06-2026</a:t>
            </a:fld>
            <a:endParaRPr lang="en-IN" dirty="0"/>
          </a:p>
        </p:txBody>
      </p:sp>
      <p:sp>
        <p:nvSpPr>
          <p:cNvPr id="4" name="Footer Placeholder 3">
            <a:extLst>
              <a:ext uri="{FF2B5EF4-FFF2-40B4-BE49-F238E27FC236}">
                <a16:creationId xmlns:a16="http://schemas.microsoft.com/office/drawing/2014/main" id="{B68D2943-125B-40CB-D93F-DB2DEDA8EDFD}"/>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19448C8D-27B6-8A3E-7936-46ACA56D88B7}"/>
              </a:ext>
            </a:extLst>
          </p:cNvPr>
          <p:cNvSpPr>
            <a:spLocks noGrp="1"/>
          </p:cNvSpPr>
          <p:nvPr>
            <p:ph type="sldNum" sz="quarter" idx="12"/>
          </p:nvPr>
        </p:nvSpPr>
        <p:spPr/>
        <p:txBody>
          <a:bodyPr/>
          <a:lstStyle/>
          <a:p>
            <a:fld id="{059E8D4F-D960-4199-BFB0-0239CF5D57B6}" type="slidenum">
              <a:rPr lang="en-IN" smtClean="0"/>
              <a:t>‹#›</a:t>
            </a:fld>
            <a:endParaRPr lang="en-IN" dirty="0"/>
          </a:p>
        </p:txBody>
      </p:sp>
    </p:spTree>
    <p:extLst>
      <p:ext uri="{BB962C8B-B14F-4D97-AF65-F5344CB8AC3E}">
        <p14:creationId xmlns:p14="http://schemas.microsoft.com/office/powerpoint/2010/main" val="29751001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963BF5-71A6-FB2E-D6EB-35CC4BC52AE8}"/>
              </a:ext>
            </a:extLst>
          </p:cNvPr>
          <p:cNvSpPr>
            <a:spLocks noGrp="1"/>
          </p:cNvSpPr>
          <p:nvPr>
            <p:ph type="dt" sz="half" idx="10"/>
          </p:nvPr>
        </p:nvSpPr>
        <p:spPr/>
        <p:txBody>
          <a:bodyPr/>
          <a:lstStyle/>
          <a:p>
            <a:fld id="{16152CB4-2176-4AEB-A95E-C3857FC5091F}" type="datetimeFigureOut">
              <a:rPr lang="en-IN" smtClean="0"/>
              <a:t>02-06-2026</a:t>
            </a:fld>
            <a:endParaRPr lang="en-IN" dirty="0"/>
          </a:p>
        </p:txBody>
      </p:sp>
      <p:sp>
        <p:nvSpPr>
          <p:cNvPr id="3" name="Footer Placeholder 2">
            <a:extLst>
              <a:ext uri="{FF2B5EF4-FFF2-40B4-BE49-F238E27FC236}">
                <a16:creationId xmlns:a16="http://schemas.microsoft.com/office/drawing/2014/main" id="{09AD0A8F-24CE-A1C9-892A-CC4DEE381873}"/>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723B085B-53F1-58CE-7AAE-46D47B980167}"/>
              </a:ext>
            </a:extLst>
          </p:cNvPr>
          <p:cNvSpPr>
            <a:spLocks noGrp="1"/>
          </p:cNvSpPr>
          <p:nvPr>
            <p:ph type="sldNum" sz="quarter" idx="12"/>
          </p:nvPr>
        </p:nvSpPr>
        <p:spPr/>
        <p:txBody>
          <a:bodyPr/>
          <a:lstStyle/>
          <a:p>
            <a:fld id="{059E8D4F-D960-4199-BFB0-0239CF5D57B6}" type="slidenum">
              <a:rPr lang="en-IN" smtClean="0"/>
              <a:t>‹#›</a:t>
            </a:fld>
            <a:endParaRPr lang="en-IN" dirty="0"/>
          </a:p>
        </p:txBody>
      </p:sp>
    </p:spTree>
    <p:extLst>
      <p:ext uri="{BB962C8B-B14F-4D97-AF65-F5344CB8AC3E}">
        <p14:creationId xmlns:p14="http://schemas.microsoft.com/office/powerpoint/2010/main" val="32498578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0F419-3175-6B17-B509-97906A7259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5583371-6A03-CE79-920C-11E842C4F8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72EF25C-AC72-9D8C-BFC2-6D171B43A4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36E661-27F6-979A-53AA-1D67422E8773}"/>
              </a:ext>
            </a:extLst>
          </p:cNvPr>
          <p:cNvSpPr>
            <a:spLocks noGrp="1"/>
          </p:cNvSpPr>
          <p:nvPr>
            <p:ph type="dt" sz="half" idx="10"/>
          </p:nvPr>
        </p:nvSpPr>
        <p:spPr/>
        <p:txBody>
          <a:bodyPr/>
          <a:lstStyle/>
          <a:p>
            <a:fld id="{16152CB4-2176-4AEB-A95E-C3857FC5091F}" type="datetimeFigureOut">
              <a:rPr lang="en-IN" smtClean="0"/>
              <a:t>02-06-2026</a:t>
            </a:fld>
            <a:endParaRPr lang="en-IN" dirty="0"/>
          </a:p>
        </p:txBody>
      </p:sp>
      <p:sp>
        <p:nvSpPr>
          <p:cNvPr id="6" name="Footer Placeholder 5">
            <a:extLst>
              <a:ext uri="{FF2B5EF4-FFF2-40B4-BE49-F238E27FC236}">
                <a16:creationId xmlns:a16="http://schemas.microsoft.com/office/drawing/2014/main" id="{A3C9BAF9-D3E0-3BB0-784D-1D60F1D27B97}"/>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3BE49E93-4D3F-AF3B-5502-3B4FC11E4A70}"/>
              </a:ext>
            </a:extLst>
          </p:cNvPr>
          <p:cNvSpPr>
            <a:spLocks noGrp="1"/>
          </p:cNvSpPr>
          <p:nvPr>
            <p:ph type="sldNum" sz="quarter" idx="12"/>
          </p:nvPr>
        </p:nvSpPr>
        <p:spPr/>
        <p:txBody>
          <a:bodyPr/>
          <a:lstStyle/>
          <a:p>
            <a:fld id="{059E8D4F-D960-4199-BFB0-0239CF5D57B6}" type="slidenum">
              <a:rPr lang="en-IN" smtClean="0"/>
              <a:t>‹#›</a:t>
            </a:fld>
            <a:endParaRPr lang="en-IN" dirty="0"/>
          </a:p>
        </p:txBody>
      </p:sp>
    </p:spTree>
    <p:extLst>
      <p:ext uri="{BB962C8B-B14F-4D97-AF65-F5344CB8AC3E}">
        <p14:creationId xmlns:p14="http://schemas.microsoft.com/office/powerpoint/2010/main" val="17797507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D22B8-E215-E840-CF28-84D3A01B4C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FAA459B-3D6E-365D-CD70-D9AE8057BC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22DDA734-23C2-B84E-FDE2-E42ECF4F5A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8C02D49-6602-7C65-D8A0-6D7D316B7790}"/>
              </a:ext>
            </a:extLst>
          </p:cNvPr>
          <p:cNvSpPr>
            <a:spLocks noGrp="1"/>
          </p:cNvSpPr>
          <p:nvPr>
            <p:ph type="dt" sz="half" idx="10"/>
          </p:nvPr>
        </p:nvSpPr>
        <p:spPr/>
        <p:txBody>
          <a:bodyPr/>
          <a:lstStyle/>
          <a:p>
            <a:fld id="{16152CB4-2176-4AEB-A95E-C3857FC5091F}" type="datetimeFigureOut">
              <a:rPr lang="en-IN" smtClean="0"/>
              <a:t>02-06-2026</a:t>
            </a:fld>
            <a:endParaRPr lang="en-IN" dirty="0"/>
          </a:p>
        </p:txBody>
      </p:sp>
      <p:sp>
        <p:nvSpPr>
          <p:cNvPr id="6" name="Footer Placeholder 5">
            <a:extLst>
              <a:ext uri="{FF2B5EF4-FFF2-40B4-BE49-F238E27FC236}">
                <a16:creationId xmlns:a16="http://schemas.microsoft.com/office/drawing/2014/main" id="{C0C7E49D-B8FD-504F-4EFD-CD24143A6FF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DFBF0E8D-8974-0344-12C1-9254B873C62C}"/>
              </a:ext>
            </a:extLst>
          </p:cNvPr>
          <p:cNvSpPr>
            <a:spLocks noGrp="1"/>
          </p:cNvSpPr>
          <p:nvPr>
            <p:ph type="sldNum" sz="quarter" idx="12"/>
          </p:nvPr>
        </p:nvSpPr>
        <p:spPr/>
        <p:txBody>
          <a:bodyPr/>
          <a:lstStyle/>
          <a:p>
            <a:fld id="{059E8D4F-D960-4199-BFB0-0239CF5D57B6}" type="slidenum">
              <a:rPr lang="en-IN" smtClean="0"/>
              <a:t>‹#›</a:t>
            </a:fld>
            <a:endParaRPr lang="en-IN" dirty="0"/>
          </a:p>
        </p:txBody>
      </p:sp>
    </p:spTree>
    <p:extLst>
      <p:ext uri="{BB962C8B-B14F-4D97-AF65-F5344CB8AC3E}">
        <p14:creationId xmlns:p14="http://schemas.microsoft.com/office/powerpoint/2010/main" val="1895453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591DC-9B3B-213C-ABC0-A1746C722E0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DCABBAD-4409-5715-455B-95DBC16E23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D7A6CD-F08A-C387-946B-F99BCA0FA948}"/>
              </a:ext>
            </a:extLst>
          </p:cNvPr>
          <p:cNvSpPr>
            <a:spLocks noGrp="1"/>
          </p:cNvSpPr>
          <p:nvPr>
            <p:ph type="dt" sz="half" idx="10"/>
          </p:nvPr>
        </p:nvSpPr>
        <p:spPr/>
        <p:txBody>
          <a:bodyPr/>
          <a:lstStyle/>
          <a:p>
            <a:fld id="{16152CB4-2176-4AEB-A95E-C3857FC5091F}" type="datetimeFigureOut">
              <a:rPr lang="en-IN" smtClean="0"/>
              <a:t>02-06-2026</a:t>
            </a:fld>
            <a:endParaRPr lang="en-IN" dirty="0"/>
          </a:p>
        </p:txBody>
      </p:sp>
      <p:sp>
        <p:nvSpPr>
          <p:cNvPr id="5" name="Footer Placeholder 4">
            <a:extLst>
              <a:ext uri="{FF2B5EF4-FFF2-40B4-BE49-F238E27FC236}">
                <a16:creationId xmlns:a16="http://schemas.microsoft.com/office/drawing/2014/main" id="{895ADFD3-9284-E003-1DFC-EB16ADBB23CB}"/>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7C97B2EC-A61E-40E3-F91C-A9AFD5D72642}"/>
              </a:ext>
            </a:extLst>
          </p:cNvPr>
          <p:cNvSpPr>
            <a:spLocks noGrp="1"/>
          </p:cNvSpPr>
          <p:nvPr>
            <p:ph type="sldNum" sz="quarter" idx="12"/>
          </p:nvPr>
        </p:nvSpPr>
        <p:spPr/>
        <p:txBody>
          <a:bodyPr/>
          <a:lstStyle/>
          <a:p>
            <a:fld id="{059E8D4F-D960-4199-BFB0-0239CF5D57B6}" type="slidenum">
              <a:rPr lang="en-IN" smtClean="0"/>
              <a:t>‹#›</a:t>
            </a:fld>
            <a:endParaRPr lang="en-IN" dirty="0"/>
          </a:p>
        </p:txBody>
      </p:sp>
    </p:spTree>
    <p:extLst>
      <p:ext uri="{BB962C8B-B14F-4D97-AF65-F5344CB8AC3E}">
        <p14:creationId xmlns:p14="http://schemas.microsoft.com/office/powerpoint/2010/main" val="22491329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9E1F3C-D07F-3461-9F60-6D10E00BB12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5A3E806-BBFB-E454-C9EF-C37EAF5D082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4C55214-E86A-2620-4806-DA37DA43F312}"/>
              </a:ext>
            </a:extLst>
          </p:cNvPr>
          <p:cNvSpPr>
            <a:spLocks noGrp="1"/>
          </p:cNvSpPr>
          <p:nvPr>
            <p:ph type="dt" sz="half" idx="10"/>
          </p:nvPr>
        </p:nvSpPr>
        <p:spPr/>
        <p:txBody>
          <a:bodyPr/>
          <a:lstStyle/>
          <a:p>
            <a:fld id="{16152CB4-2176-4AEB-A95E-C3857FC5091F}" type="datetimeFigureOut">
              <a:rPr lang="en-IN" smtClean="0"/>
              <a:t>02-06-2026</a:t>
            </a:fld>
            <a:endParaRPr lang="en-IN" dirty="0"/>
          </a:p>
        </p:txBody>
      </p:sp>
      <p:sp>
        <p:nvSpPr>
          <p:cNvPr id="5" name="Footer Placeholder 4">
            <a:extLst>
              <a:ext uri="{FF2B5EF4-FFF2-40B4-BE49-F238E27FC236}">
                <a16:creationId xmlns:a16="http://schemas.microsoft.com/office/drawing/2014/main" id="{E5423670-2603-03A3-F4C7-E0130A844C99}"/>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3530E48E-8478-7C62-B40C-7490388C8364}"/>
              </a:ext>
            </a:extLst>
          </p:cNvPr>
          <p:cNvSpPr>
            <a:spLocks noGrp="1"/>
          </p:cNvSpPr>
          <p:nvPr>
            <p:ph type="sldNum" sz="quarter" idx="12"/>
          </p:nvPr>
        </p:nvSpPr>
        <p:spPr/>
        <p:txBody>
          <a:bodyPr/>
          <a:lstStyle/>
          <a:p>
            <a:fld id="{059E8D4F-D960-4199-BFB0-0239CF5D57B6}" type="slidenum">
              <a:rPr lang="en-IN" smtClean="0"/>
              <a:t>‹#›</a:t>
            </a:fld>
            <a:endParaRPr lang="en-IN" dirty="0"/>
          </a:p>
        </p:txBody>
      </p:sp>
    </p:spTree>
    <p:extLst>
      <p:ext uri="{BB962C8B-B14F-4D97-AF65-F5344CB8AC3E}">
        <p14:creationId xmlns:p14="http://schemas.microsoft.com/office/powerpoint/2010/main" val="33807965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00000">
              <a:srgbClr val="032B24"/>
            </a:gs>
            <a:gs pos="65000">
              <a:srgbClr val="04362D"/>
            </a:gs>
            <a:gs pos="0">
              <a:srgbClr val="054035"/>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CFF137-6C4C-A3FC-1CD0-0A3A3F4E5B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EE11819-0B5F-3B70-D7EB-CBD9233F4D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E9EACA-2204-5B1B-DFD8-46512A5935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6152CB4-2176-4AEB-A95E-C3857FC5091F}" type="datetimeFigureOut">
              <a:rPr lang="en-IN" smtClean="0"/>
              <a:t>02-06-2026</a:t>
            </a:fld>
            <a:endParaRPr lang="en-IN" dirty="0"/>
          </a:p>
        </p:txBody>
      </p:sp>
      <p:sp>
        <p:nvSpPr>
          <p:cNvPr id="5" name="Footer Placeholder 4">
            <a:extLst>
              <a:ext uri="{FF2B5EF4-FFF2-40B4-BE49-F238E27FC236}">
                <a16:creationId xmlns:a16="http://schemas.microsoft.com/office/drawing/2014/main" id="{4DD22F89-E010-E820-C64F-87CC4DE658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dirty="0"/>
          </a:p>
        </p:txBody>
      </p:sp>
      <p:sp>
        <p:nvSpPr>
          <p:cNvPr id="6" name="Slide Number Placeholder 5">
            <a:extLst>
              <a:ext uri="{FF2B5EF4-FFF2-40B4-BE49-F238E27FC236}">
                <a16:creationId xmlns:a16="http://schemas.microsoft.com/office/drawing/2014/main" id="{E30AF6D0-8BAA-49AB-471E-782166334C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59E8D4F-D960-4199-BFB0-0239CF5D57B6}" type="slidenum">
              <a:rPr lang="en-IN" smtClean="0"/>
              <a:t>‹#›</a:t>
            </a:fld>
            <a:endParaRPr lang="en-IN" dirty="0"/>
          </a:p>
        </p:txBody>
      </p:sp>
    </p:spTree>
    <p:extLst>
      <p:ext uri="{BB962C8B-B14F-4D97-AF65-F5344CB8AC3E}">
        <p14:creationId xmlns:p14="http://schemas.microsoft.com/office/powerpoint/2010/main" val="2114880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D8652E8-FA9A-66CD-0F60-379070D25554}"/>
              </a:ext>
            </a:extLst>
          </p:cNvPr>
          <p:cNvSpPr txBox="1"/>
          <p:nvPr/>
        </p:nvSpPr>
        <p:spPr>
          <a:xfrm>
            <a:off x="3581236" y="2433010"/>
            <a:ext cx="5919020" cy="1323439"/>
          </a:xfrm>
          <a:prstGeom prst="rect">
            <a:avLst/>
          </a:prstGeom>
          <a:noFill/>
        </p:spPr>
        <p:txBody>
          <a:bodyPr wrap="square">
            <a:spAutoFit/>
          </a:bodyPr>
          <a:lstStyle/>
          <a:p>
            <a:r>
              <a:rPr lang="en-IN" sz="8000" dirty="0">
                <a:solidFill>
                  <a:schemeClr val="bg1">
                    <a:lumMod val="95000"/>
                  </a:schemeClr>
                </a:solidFill>
                <a:latin typeface="Gotham Ultra" pitchFamily="50" charset="0"/>
              </a:rPr>
              <a:t>Rancidity</a:t>
            </a:r>
            <a:endParaRPr lang="en-IN" dirty="0">
              <a:solidFill>
                <a:schemeClr val="bg1">
                  <a:lumMod val="95000"/>
                </a:schemeClr>
              </a:solidFill>
              <a:latin typeface="Gotham Ultra" pitchFamily="50" charset="0"/>
            </a:endParaRPr>
          </a:p>
        </p:txBody>
      </p:sp>
      <p:sp>
        <p:nvSpPr>
          <p:cNvPr id="7" name="TextBox 6">
            <a:extLst>
              <a:ext uri="{FF2B5EF4-FFF2-40B4-BE49-F238E27FC236}">
                <a16:creationId xmlns:a16="http://schemas.microsoft.com/office/drawing/2014/main" id="{78C4627D-C30A-EC11-FFEC-CECB4EA79670}"/>
              </a:ext>
            </a:extLst>
          </p:cNvPr>
          <p:cNvSpPr txBox="1"/>
          <p:nvPr/>
        </p:nvSpPr>
        <p:spPr>
          <a:xfrm>
            <a:off x="4827638" y="3941115"/>
            <a:ext cx="6096000" cy="369332"/>
          </a:xfrm>
          <a:prstGeom prst="rect">
            <a:avLst/>
          </a:prstGeom>
          <a:noFill/>
        </p:spPr>
        <p:txBody>
          <a:bodyPr wrap="square">
            <a:spAutoFit/>
          </a:bodyPr>
          <a:lstStyle/>
          <a:p>
            <a:r>
              <a:rPr lang="en-US" b="1" dirty="0">
                <a:solidFill>
                  <a:schemeClr val="bg1">
                    <a:lumMod val="95000"/>
                  </a:schemeClr>
                </a:solidFill>
                <a:latin typeface="Gotham Black" panose="02000603040000020004" pitchFamily="2" charset="0"/>
              </a:rPr>
              <a:t>By Jovan Fernandes</a:t>
            </a:r>
            <a:endParaRPr lang="en-IN" b="1" dirty="0">
              <a:solidFill>
                <a:schemeClr val="bg1">
                  <a:lumMod val="95000"/>
                </a:schemeClr>
              </a:solidFill>
              <a:latin typeface="Gotham Black" panose="02000603040000020004" pitchFamily="2" charset="0"/>
            </a:endParaRPr>
          </a:p>
        </p:txBody>
      </p:sp>
    </p:spTree>
    <p:extLst>
      <p:ext uri="{BB962C8B-B14F-4D97-AF65-F5344CB8AC3E}">
        <p14:creationId xmlns:p14="http://schemas.microsoft.com/office/powerpoint/2010/main" val="41272497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397ED-BFC6-B9A1-EE23-BF1EA35A832A}"/>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5CDF33BA-07B0-3DDB-B4D9-0B9860D3A24E}"/>
              </a:ext>
            </a:extLst>
          </p:cNvPr>
          <p:cNvPicPr>
            <a:picLocks noChangeAspect="1"/>
          </p:cNvPicPr>
          <p:nvPr/>
        </p:nvPicPr>
        <p:blipFill>
          <a:blip r:embed="rId2"/>
          <a:stretch>
            <a:fillRect/>
          </a:stretch>
        </p:blipFill>
        <p:spPr>
          <a:xfrm>
            <a:off x="1941940" y="3551558"/>
            <a:ext cx="1947817" cy="2274237"/>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3" name="TextBox 2">
            <a:extLst>
              <a:ext uri="{FF2B5EF4-FFF2-40B4-BE49-F238E27FC236}">
                <a16:creationId xmlns:a16="http://schemas.microsoft.com/office/drawing/2014/main" id="{B83A836B-B4A9-A4D2-080F-34EF0D2CF1FC}"/>
              </a:ext>
            </a:extLst>
          </p:cNvPr>
          <p:cNvSpPr txBox="1"/>
          <p:nvPr/>
        </p:nvSpPr>
        <p:spPr>
          <a:xfrm>
            <a:off x="2721240" y="601340"/>
            <a:ext cx="5919020" cy="769441"/>
          </a:xfrm>
          <a:prstGeom prst="rect">
            <a:avLst/>
          </a:prstGeom>
          <a:noFill/>
        </p:spPr>
        <p:txBody>
          <a:bodyPr wrap="square">
            <a:spAutoFit/>
          </a:bodyPr>
          <a:lstStyle/>
          <a:p>
            <a:r>
              <a:rPr lang="en-IN" sz="4400" dirty="0">
                <a:solidFill>
                  <a:schemeClr val="bg1">
                    <a:lumMod val="95000"/>
                  </a:schemeClr>
                </a:solidFill>
                <a:latin typeface="Gotham Ultra" pitchFamily="50" charset="0"/>
              </a:rPr>
              <a:t>Rancidity</a:t>
            </a:r>
            <a:endParaRPr lang="en-IN" sz="1000" dirty="0">
              <a:solidFill>
                <a:schemeClr val="bg1">
                  <a:lumMod val="95000"/>
                </a:schemeClr>
              </a:solidFill>
              <a:latin typeface="Gotham Ultra" pitchFamily="50" charset="0"/>
            </a:endParaRPr>
          </a:p>
        </p:txBody>
      </p:sp>
      <p:sp>
        <p:nvSpPr>
          <p:cNvPr id="4" name="TextBox 3">
            <a:extLst>
              <a:ext uri="{FF2B5EF4-FFF2-40B4-BE49-F238E27FC236}">
                <a16:creationId xmlns:a16="http://schemas.microsoft.com/office/drawing/2014/main" id="{3645D59E-C708-AB80-452B-773B1B0F91CE}"/>
              </a:ext>
            </a:extLst>
          </p:cNvPr>
          <p:cNvSpPr txBox="1"/>
          <p:nvPr/>
        </p:nvSpPr>
        <p:spPr>
          <a:xfrm>
            <a:off x="423113" y="601341"/>
            <a:ext cx="2693711" cy="769441"/>
          </a:xfrm>
          <a:prstGeom prst="rect">
            <a:avLst/>
          </a:prstGeom>
          <a:noFill/>
        </p:spPr>
        <p:txBody>
          <a:bodyPr wrap="square">
            <a:spAutoFit/>
          </a:bodyPr>
          <a:lstStyle/>
          <a:p>
            <a:r>
              <a:rPr lang="en-IN" sz="4400" dirty="0">
                <a:solidFill>
                  <a:schemeClr val="bg1">
                    <a:lumMod val="95000"/>
                  </a:schemeClr>
                </a:solidFill>
                <a:latin typeface="Gotham Ultra" pitchFamily="50" charset="0"/>
              </a:rPr>
              <a:t>What </a:t>
            </a:r>
            <a:r>
              <a:rPr lang="en-IN" sz="4000" dirty="0">
                <a:solidFill>
                  <a:schemeClr val="bg1">
                    <a:lumMod val="95000"/>
                  </a:schemeClr>
                </a:solidFill>
                <a:latin typeface="Gotham Ultra" pitchFamily="50" charset="0"/>
              </a:rPr>
              <a:t>Is</a:t>
            </a:r>
            <a:r>
              <a:rPr lang="en-IN" sz="4400" dirty="0">
                <a:solidFill>
                  <a:schemeClr val="bg1">
                    <a:lumMod val="95000"/>
                  </a:schemeClr>
                </a:solidFill>
                <a:latin typeface="Gotham Ultra" pitchFamily="50" charset="0"/>
              </a:rPr>
              <a:t> </a:t>
            </a:r>
            <a:endParaRPr lang="en-IN" sz="1600" dirty="0">
              <a:solidFill>
                <a:schemeClr val="bg1">
                  <a:lumMod val="95000"/>
                </a:schemeClr>
              </a:solidFill>
              <a:latin typeface="Gotham Ultra" pitchFamily="50" charset="0"/>
            </a:endParaRPr>
          </a:p>
        </p:txBody>
      </p:sp>
      <p:sp>
        <p:nvSpPr>
          <p:cNvPr id="6" name="TextBox 5">
            <a:extLst>
              <a:ext uri="{FF2B5EF4-FFF2-40B4-BE49-F238E27FC236}">
                <a16:creationId xmlns:a16="http://schemas.microsoft.com/office/drawing/2014/main" id="{0B5AF9F6-5702-AF39-0F0A-FFFEDD0F1955}"/>
              </a:ext>
            </a:extLst>
          </p:cNvPr>
          <p:cNvSpPr txBox="1"/>
          <p:nvPr/>
        </p:nvSpPr>
        <p:spPr>
          <a:xfrm>
            <a:off x="423113" y="1370781"/>
            <a:ext cx="11405419" cy="646331"/>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bg1">
                    <a:lumMod val="95000"/>
                  </a:schemeClr>
                </a:solidFill>
                <a:effectLst>
                  <a:outerShdw blurRad="38100" dist="38100" dir="2700000" algn="tl">
                    <a:srgbClr val="000000">
                      <a:alpha val="43137"/>
                    </a:srgbClr>
                  </a:outerShdw>
                </a:effectLst>
                <a:latin typeface="Gotham" panose="02000504050000020004" pitchFamily="2" charset="0"/>
              </a:rPr>
              <a:t>Rancidity is the process of chemical spoilage in fats and oils, caused by exposure to oxygen, light, moisture, or bacteria, resulting in unpleasant odors, tastes, and lowered nutritional value</a:t>
            </a:r>
          </a:p>
        </p:txBody>
      </p:sp>
      <p:sp>
        <p:nvSpPr>
          <p:cNvPr id="8" name="TextBox 7">
            <a:extLst>
              <a:ext uri="{FF2B5EF4-FFF2-40B4-BE49-F238E27FC236}">
                <a16:creationId xmlns:a16="http://schemas.microsoft.com/office/drawing/2014/main" id="{D42CD02F-512A-2E39-CEED-43492A1E9C50}"/>
              </a:ext>
            </a:extLst>
          </p:cNvPr>
          <p:cNvSpPr txBox="1"/>
          <p:nvPr/>
        </p:nvSpPr>
        <p:spPr>
          <a:xfrm>
            <a:off x="423113" y="2017112"/>
            <a:ext cx="9389806" cy="646331"/>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bg1">
                    <a:lumMod val="95000"/>
                  </a:schemeClr>
                </a:solidFill>
                <a:latin typeface="Gotham" panose="02000504050000020004" pitchFamily="2" charset="0"/>
              </a:rPr>
              <a:t>When fats and oils are oxidized, they become rancid and their smell and taste change. Rancidity is the chemical decomposition of fats, oils, and other lipids. </a:t>
            </a:r>
            <a:endParaRPr lang="en-IN" dirty="0">
              <a:solidFill>
                <a:schemeClr val="bg1">
                  <a:lumMod val="95000"/>
                </a:schemeClr>
              </a:solidFill>
              <a:latin typeface="Gotham" panose="02000504050000020004" pitchFamily="2" charset="0"/>
            </a:endParaRPr>
          </a:p>
        </p:txBody>
      </p:sp>
      <p:pic>
        <p:nvPicPr>
          <p:cNvPr id="5" name="Picture 4">
            <a:extLst>
              <a:ext uri="{FF2B5EF4-FFF2-40B4-BE49-F238E27FC236}">
                <a16:creationId xmlns:a16="http://schemas.microsoft.com/office/drawing/2014/main" id="{70EB13CB-E39B-CDF9-8E75-DA470FDAAAEC}"/>
              </a:ext>
            </a:extLst>
          </p:cNvPr>
          <p:cNvPicPr>
            <a:picLocks noChangeAspect="1"/>
          </p:cNvPicPr>
          <p:nvPr/>
        </p:nvPicPr>
        <p:blipFill>
          <a:blip r:embed="rId3"/>
          <a:stretch>
            <a:fillRect/>
          </a:stretch>
        </p:blipFill>
        <p:spPr>
          <a:xfrm>
            <a:off x="1941941" y="3551558"/>
            <a:ext cx="1912304" cy="2274237"/>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13" name="TextBox 12">
            <a:extLst>
              <a:ext uri="{FF2B5EF4-FFF2-40B4-BE49-F238E27FC236}">
                <a16:creationId xmlns:a16="http://schemas.microsoft.com/office/drawing/2014/main" id="{E80A7851-75F4-74C1-D557-54E40498F7A5}"/>
              </a:ext>
            </a:extLst>
          </p:cNvPr>
          <p:cNvSpPr txBox="1"/>
          <p:nvPr/>
        </p:nvSpPr>
        <p:spPr>
          <a:xfrm>
            <a:off x="4581832" y="4504010"/>
            <a:ext cx="6096000" cy="369332"/>
          </a:xfrm>
          <a:prstGeom prst="rect">
            <a:avLst/>
          </a:prstGeom>
          <a:noFill/>
        </p:spPr>
        <p:txBody>
          <a:bodyPr wrap="square">
            <a:spAutoFit/>
          </a:bodyPr>
          <a:lstStyle/>
          <a:p>
            <a:r>
              <a:rPr lang="en-US" dirty="0">
                <a:solidFill>
                  <a:schemeClr val="bg1">
                    <a:lumMod val="95000"/>
                  </a:schemeClr>
                </a:solidFill>
                <a:latin typeface="Gotham" panose="02000504050000020004" pitchFamily="2" charset="0"/>
              </a:rPr>
              <a:t>Oil turns rancid after kept in air for too long</a:t>
            </a:r>
            <a:endParaRPr lang="en-IN" dirty="0">
              <a:solidFill>
                <a:schemeClr val="bg1">
                  <a:lumMod val="95000"/>
                </a:schemeClr>
              </a:solidFill>
              <a:latin typeface="Gotham" panose="02000504050000020004" pitchFamily="2" charset="0"/>
            </a:endParaRPr>
          </a:p>
        </p:txBody>
      </p:sp>
    </p:spTree>
    <p:extLst>
      <p:ext uri="{BB962C8B-B14F-4D97-AF65-F5344CB8AC3E}">
        <p14:creationId xmlns:p14="http://schemas.microsoft.com/office/powerpoint/2010/main" val="11129814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100000">
              <a:srgbClr val="032B24"/>
            </a:gs>
            <a:gs pos="76000">
              <a:srgbClr val="04362D"/>
            </a:gs>
            <a:gs pos="0">
              <a:srgbClr val="054035"/>
            </a:gs>
          </a:gsLst>
          <a:path path="shape">
            <a:fillToRect l="50000" t="50000" r="50000" b="50000"/>
          </a:path>
          <a:tileRect/>
        </a:gradFill>
        <a:effectLst/>
      </p:bgPr>
    </p:bg>
    <p:spTree>
      <p:nvGrpSpPr>
        <p:cNvPr id="1" name="">
          <a:extLst>
            <a:ext uri="{FF2B5EF4-FFF2-40B4-BE49-F238E27FC236}">
              <a16:creationId xmlns:a16="http://schemas.microsoft.com/office/drawing/2014/main" id="{4409046A-2BC5-0C04-AD3F-47F0FBB6A6A1}"/>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AE14B0BF-092D-355F-A89F-A3971D3E27DF}"/>
              </a:ext>
            </a:extLst>
          </p:cNvPr>
          <p:cNvSpPr txBox="1"/>
          <p:nvPr/>
        </p:nvSpPr>
        <p:spPr>
          <a:xfrm>
            <a:off x="4080387" y="668594"/>
            <a:ext cx="6096000" cy="523220"/>
          </a:xfrm>
          <a:prstGeom prst="rect">
            <a:avLst/>
          </a:prstGeom>
          <a:noFill/>
        </p:spPr>
        <p:txBody>
          <a:bodyPr wrap="square">
            <a:spAutoFit/>
          </a:bodyPr>
          <a:lstStyle/>
          <a:p>
            <a:r>
              <a:rPr lang="en-US" sz="2800" dirty="0">
                <a:solidFill>
                  <a:schemeClr val="bg1">
                    <a:lumMod val="95000"/>
                  </a:schemeClr>
                </a:solidFill>
                <a:latin typeface="Gotham Black" panose="02000603040000020004" pitchFamily="2" charset="0"/>
              </a:rPr>
              <a:t>Types Of Rancidity </a:t>
            </a:r>
            <a:endParaRPr lang="en-IN" sz="2800" dirty="0">
              <a:solidFill>
                <a:schemeClr val="bg1">
                  <a:lumMod val="95000"/>
                </a:schemeClr>
              </a:solidFill>
              <a:latin typeface="Gotham Black" panose="02000603040000020004" pitchFamily="2" charset="0"/>
            </a:endParaRPr>
          </a:p>
        </p:txBody>
      </p:sp>
      <p:cxnSp>
        <p:nvCxnSpPr>
          <p:cNvPr id="3" name="Straight Connector 2">
            <a:extLst>
              <a:ext uri="{FF2B5EF4-FFF2-40B4-BE49-F238E27FC236}">
                <a16:creationId xmlns:a16="http://schemas.microsoft.com/office/drawing/2014/main" id="{DBCDCB15-061E-856F-E74A-75C57792B7BD}"/>
              </a:ext>
            </a:extLst>
          </p:cNvPr>
          <p:cNvCxnSpPr/>
          <p:nvPr/>
        </p:nvCxnSpPr>
        <p:spPr>
          <a:xfrm>
            <a:off x="4247535" y="2644877"/>
            <a:ext cx="0" cy="3883742"/>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A8EBC2DA-61A4-4B58-0CA2-0CAEBA4F05AB}"/>
              </a:ext>
            </a:extLst>
          </p:cNvPr>
          <p:cNvSpPr txBox="1"/>
          <p:nvPr/>
        </p:nvSpPr>
        <p:spPr>
          <a:xfrm>
            <a:off x="442452" y="7110520"/>
            <a:ext cx="6096000" cy="461665"/>
          </a:xfrm>
          <a:prstGeom prst="rect">
            <a:avLst/>
          </a:prstGeom>
          <a:noFill/>
        </p:spPr>
        <p:txBody>
          <a:bodyPr wrap="square">
            <a:spAutoFit/>
          </a:bodyPr>
          <a:lstStyle/>
          <a:p>
            <a:r>
              <a:rPr lang="en-IN" sz="2400" dirty="0">
                <a:solidFill>
                  <a:schemeClr val="bg1"/>
                </a:solidFill>
                <a:latin typeface="Gotham Black" panose="02000603040000020004" pitchFamily="2" charset="0"/>
              </a:rPr>
              <a:t>Hydrolytic</a:t>
            </a:r>
            <a:r>
              <a:rPr lang="en-IN" sz="2000" dirty="0">
                <a:solidFill>
                  <a:schemeClr val="bg1"/>
                </a:solidFill>
                <a:latin typeface="Gotham Black" panose="02000603040000020004" pitchFamily="2" charset="0"/>
              </a:rPr>
              <a:t> </a:t>
            </a:r>
            <a:r>
              <a:rPr lang="en-IN" sz="2400" dirty="0">
                <a:solidFill>
                  <a:schemeClr val="bg1"/>
                </a:solidFill>
                <a:latin typeface="Gotham Black" panose="02000603040000020004" pitchFamily="2" charset="0"/>
              </a:rPr>
              <a:t>rancidity</a:t>
            </a:r>
            <a:endParaRPr lang="en-IN" sz="2000" dirty="0">
              <a:solidFill>
                <a:schemeClr val="bg1"/>
              </a:solidFill>
              <a:latin typeface="Gotham Black" panose="02000603040000020004" pitchFamily="2" charset="0"/>
            </a:endParaRPr>
          </a:p>
        </p:txBody>
      </p:sp>
      <p:cxnSp>
        <p:nvCxnSpPr>
          <p:cNvPr id="13" name="Straight Connector 12">
            <a:extLst>
              <a:ext uri="{FF2B5EF4-FFF2-40B4-BE49-F238E27FC236}">
                <a16:creationId xmlns:a16="http://schemas.microsoft.com/office/drawing/2014/main" id="{0A16C634-3EEF-DBBB-AD47-8F686C75EACB}"/>
              </a:ext>
            </a:extLst>
          </p:cNvPr>
          <p:cNvCxnSpPr/>
          <p:nvPr/>
        </p:nvCxnSpPr>
        <p:spPr>
          <a:xfrm>
            <a:off x="8146027" y="2644877"/>
            <a:ext cx="0" cy="3883742"/>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E136A9CD-710D-9840-8A97-77D6FB21BFCE}"/>
              </a:ext>
            </a:extLst>
          </p:cNvPr>
          <p:cNvSpPr txBox="1"/>
          <p:nvPr/>
        </p:nvSpPr>
        <p:spPr>
          <a:xfrm>
            <a:off x="668597" y="7620084"/>
            <a:ext cx="2934927" cy="1200329"/>
          </a:xfrm>
          <a:prstGeom prst="rect">
            <a:avLst/>
          </a:prstGeom>
          <a:noFill/>
        </p:spPr>
        <p:txBody>
          <a:bodyPr wrap="square">
            <a:spAutoFit/>
          </a:bodyPr>
          <a:lstStyle/>
          <a:p>
            <a:r>
              <a:rPr lang="en-US" dirty="0">
                <a:solidFill>
                  <a:schemeClr val="bg1"/>
                </a:solidFill>
                <a:latin typeface="Gotham Thin" pitchFamily="50" charset="0"/>
              </a:rPr>
              <a:t>It occurs when water splits fatty acid chains away from the glycerol backbone in glycerides.</a:t>
            </a:r>
            <a:endParaRPr lang="en-IN" dirty="0">
              <a:solidFill>
                <a:schemeClr val="bg1"/>
              </a:solidFill>
              <a:latin typeface="Gotham Thin" pitchFamily="50" charset="0"/>
            </a:endParaRPr>
          </a:p>
        </p:txBody>
      </p:sp>
      <p:sp>
        <p:nvSpPr>
          <p:cNvPr id="12" name="TextBox 11">
            <a:extLst>
              <a:ext uri="{FF2B5EF4-FFF2-40B4-BE49-F238E27FC236}">
                <a16:creationId xmlns:a16="http://schemas.microsoft.com/office/drawing/2014/main" id="{00DB92D5-C2FE-4F2E-9243-75459EF00DAA}"/>
              </a:ext>
            </a:extLst>
          </p:cNvPr>
          <p:cNvSpPr txBox="1"/>
          <p:nvPr/>
        </p:nvSpPr>
        <p:spPr>
          <a:xfrm>
            <a:off x="4881715" y="9883360"/>
            <a:ext cx="6096000" cy="400110"/>
          </a:xfrm>
          <a:prstGeom prst="rect">
            <a:avLst/>
          </a:prstGeom>
          <a:noFill/>
        </p:spPr>
        <p:txBody>
          <a:bodyPr wrap="square">
            <a:spAutoFit/>
          </a:bodyPr>
          <a:lstStyle/>
          <a:p>
            <a:r>
              <a:rPr lang="en-IN" sz="2000" dirty="0">
                <a:solidFill>
                  <a:schemeClr val="bg1"/>
                </a:solidFill>
                <a:latin typeface="Gotham Black" panose="02000603040000020004" pitchFamily="2" charset="0"/>
              </a:rPr>
              <a:t>Oxidative rancidity</a:t>
            </a:r>
          </a:p>
        </p:txBody>
      </p:sp>
      <p:sp>
        <p:nvSpPr>
          <p:cNvPr id="18" name="TextBox 17">
            <a:extLst>
              <a:ext uri="{FF2B5EF4-FFF2-40B4-BE49-F238E27FC236}">
                <a16:creationId xmlns:a16="http://schemas.microsoft.com/office/drawing/2014/main" id="{B1CC3CB9-BDCC-EE51-7550-7337C6606398}"/>
              </a:ext>
            </a:extLst>
          </p:cNvPr>
          <p:cNvSpPr txBox="1"/>
          <p:nvPr/>
        </p:nvSpPr>
        <p:spPr>
          <a:xfrm>
            <a:off x="4801831" y="10332180"/>
            <a:ext cx="2789901" cy="1477328"/>
          </a:xfrm>
          <a:prstGeom prst="rect">
            <a:avLst/>
          </a:prstGeom>
          <a:noFill/>
        </p:spPr>
        <p:txBody>
          <a:bodyPr wrap="square">
            <a:spAutoFit/>
          </a:bodyPr>
          <a:lstStyle/>
          <a:p>
            <a:r>
              <a:rPr lang="en-US" dirty="0">
                <a:solidFill>
                  <a:schemeClr val="bg1"/>
                </a:solidFill>
                <a:latin typeface="Gotham Thin" pitchFamily="50" charset="0"/>
              </a:rPr>
              <a:t>It occurs when the double bonds of an unsaturated fatty acid react chemically with oxygen.</a:t>
            </a:r>
            <a:endParaRPr lang="en-IN" dirty="0">
              <a:solidFill>
                <a:schemeClr val="bg1"/>
              </a:solidFill>
              <a:latin typeface="Gotham Thin" pitchFamily="50" charset="0"/>
            </a:endParaRPr>
          </a:p>
        </p:txBody>
      </p:sp>
      <p:sp>
        <p:nvSpPr>
          <p:cNvPr id="14" name="TextBox 13">
            <a:extLst>
              <a:ext uri="{FF2B5EF4-FFF2-40B4-BE49-F238E27FC236}">
                <a16:creationId xmlns:a16="http://schemas.microsoft.com/office/drawing/2014/main" id="{2A8DCB0E-5269-0A99-DC68-129046E5DC2F}"/>
              </a:ext>
            </a:extLst>
          </p:cNvPr>
          <p:cNvSpPr txBox="1"/>
          <p:nvPr/>
        </p:nvSpPr>
        <p:spPr>
          <a:xfrm>
            <a:off x="8829368" y="11973795"/>
            <a:ext cx="6096000" cy="400110"/>
          </a:xfrm>
          <a:prstGeom prst="rect">
            <a:avLst/>
          </a:prstGeom>
          <a:noFill/>
        </p:spPr>
        <p:txBody>
          <a:bodyPr wrap="square">
            <a:spAutoFit/>
          </a:bodyPr>
          <a:lstStyle/>
          <a:p>
            <a:r>
              <a:rPr lang="en-IN" sz="2000" dirty="0">
                <a:solidFill>
                  <a:schemeClr val="bg1"/>
                </a:solidFill>
                <a:latin typeface="Gotham Black" panose="02000603040000020004" pitchFamily="2" charset="0"/>
              </a:rPr>
              <a:t>Microbial rancidity</a:t>
            </a:r>
          </a:p>
        </p:txBody>
      </p:sp>
      <p:sp>
        <p:nvSpPr>
          <p:cNvPr id="19" name="TextBox 18">
            <a:extLst>
              <a:ext uri="{FF2B5EF4-FFF2-40B4-BE49-F238E27FC236}">
                <a16:creationId xmlns:a16="http://schemas.microsoft.com/office/drawing/2014/main" id="{A8903371-EC2A-5FC7-0E90-8A8D15242F49}"/>
              </a:ext>
            </a:extLst>
          </p:cNvPr>
          <p:cNvSpPr txBox="1"/>
          <p:nvPr/>
        </p:nvSpPr>
        <p:spPr>
          <a:xfrm>
            <a:off x="8781436" y="12379949"/>
            <a:ext cx="2789901" cy="2031325"/>
          </a:xfrm>
          <a:prstGeom prst="rect">
            <a:avLst/>
          </a:prstGeom>
          <a:noFill/>
        </p:spPr>
        <p:txBody>
          <a:bodyPr wrap="square">
            <a:spAutoFit/>
          </a:bodyPr>
          <a:lstStyle/>
          <a:p>
            <a:r>
              <a:rPr lang="en-US" dirty="0">
                <a:solidFill>
                  <a:schemeClr val="bg1"/>
                </a:solidFill>
                <a:latin typeface="Gotham Thin" pitchFamily="50" charset="0"/>
              </a:rPr>
              <a:t> It is a process in which microorganisms such as bacteria use their enzymes, including lipases, to break down chemical structures in the fat.</a:t>
            </a:r>
            <a:endParaRPr lang="en-IN" dirty="0">
              <a:solidFill>
                <a:schemeClr val="bg1"/>
              </a:solidFill>
              <a:latin typeface="Gotham Thin" pitchFamily="50" charset="0"/>
            </a:endParaRPr>
          </a:p>
        </p:txBody>
      </p:sp>
      <p:sp>
        <p:nvSpPr>
          <p:cNvPr id="21" name="Flowchart: Connector 20">
            <a:extLst>
              <a:ext uri="{FF2B5EF4-FFF2-40B4-BE49-F238E27FC236}">
                <a16:creationId xmlns:a16="http://schemas.microsoft.com/office/drawing/2014/main" id="{46F18548-BC73-233D-CB68-B885C3769DB0}"/>
              </a:ext>
            </a:extLst>
          </p:cNvPr>
          <p:cNvSpPr/>
          <p:nvPr/>
        </p:nvSpPr>
        <p:spPr>
          <a:xfrm>
            <a:off x="-10279443" y="-10190520"/>
            <a:ext cx="24590111" cy="24590111"/>
          </a:xfrm>
          <a:prstGeom prst="flowChartConnector">
            <a:avLst/>
          </a:prstGeom>
          <a:noFill/>
          <a:ln w="762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Gotham Black" panose="02000603040000020004" pitchFamily="2" charset="0"/>
              </a:rPr>
              <a:t>1</a:t>
            </a:r>
            <a:endParaRPr lang="en-IN" sz="1000" dirty="0">
              <a:solidFill>
                <a:schemeClr val="bg1"/>
              </a:solidFill>
              <a:latin typeface="Gotham Black" panose="02000603040000020004" pitchFamily="2" charset="0"/>
            </a:endParaRPr>
          </a:p>
        </p:txBody>
      </p:sp>
      <p:sp>
        <p:nvSpPr>
          <p:cNvPr id="2" name="Flowchart: Connector 1">
            <a:extLst>
              <a:ext uri="{FF2B5EF4-FFF2-40B4-BE49-F238E27FC236}">
                <a16:creationId xmlns:a16="http://schemas.microsoft.com/office/drawing/2014/main" id="{E0C61CE3-639B-E806-4921-596794D023F4}"/>
              </a:ext>
            </a:extLst>
          </p:cNvPr>
          <p:cNvSpPr/>
          <p:nvPr/>
        </p:nvSpPr>
        <p:spPr>
          <a:xfrm>
            <a:off x="-6098275" y="-10190521"/>
            <a:ext cx="24590111" cy="24590111"/>
          </a:xfrm>
          <a:prstGeom prst="flowChartConnector">
            <a:avLst/>
          </a:prstGeom>
          <a:noFill/>
          <a:ln w="762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Gotham Black" panose="02000603040000020004" pitchFamily="2" charset="0"/>
              </a:rPr>
              <a:t>2</a:t>
            </a:r>
            <a:endParaRPr lang="en-IN" sz="1000" dirty="0">
              <a:solidFill>
                <a:schemeClr val="bg1"/>
              </a:solidFill>
              <a:latin typeface="Gotham Black" panose="02000603040000020004" pitchFamily="2" charset="0"/>
            </a:endParaRPr>
          </a:p>
        </p:txBody>
      </p:sp>
      <p:sp>
        <p:nvSpPr>
          <p:cNvPr id="6" name="Flowchart: Connector 5">
            <a:extLst>
              <a:ext uri="{FF2B5EF4-FFF2-40B4-BE49-F238E27FC236}">
                <a16:creationId xmlns:a16="http://schemas.microsoft.com/office/drawing/2014/main" id="{D4D75DE5-371B-1B27-03EE-67F8917AA07A}"/>
              </a:ext>
            </a:extLst>
          </p:cNvPr>
          <p:cNvSpPr/>
          <p:nvPr/>
        </p:nvSpPr>
        <p:spPr>
          <a:xfrm>
            <a:off x="-2118670" y="-10113387"/>
            <a:ext cx="24590111" cy="24590111"/>
          </a:xfrm>
          <a:prstGeom prst="flowChartConnector">
            <a:avLst/>
          </a:prstGeom>
          <a:noFill/>
          <a:ln w="762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Gotham Black" panose="02000603040000020004" pitchFamily="2" charset="0"/>
              </a:rPr>
              <a:t>3</a:t>
            </a:r>
            <a:endParaRPr lang="en-IN" sz="1000" dirty="0">
              <a:solidFill>
                <a:schemeClr val="bg1"/>
              </a:solidFill>
              <a:latin typeface="Gotham Black" panose="02000603040000020004" pitchFamily="2" charset="0"/>
            </a:endParaRPr>
          </a:p>
        </p:txBody>
      </p:sp>
    </p:spTree>
    <p:extLst>
      <p:ext uri="{BB962C8B-B14F-4D97-AF65-F5344CB8AC3E}">
        <p14:creationId xmlns:p14="http://schemas.microsoft.com/office/powerpoint/2010/main" val="23187280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0">
        <p159:morph option="byObject"/>
      </p:transition>
    </mc:Choice>
    <mc:Fallback xmlns="">
      <p:transition spd="slow" advClick="0" advTm="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100000">
              <a:srgbClr val="032B24"/>
            </a:gs>
            <a:gs pos="76000">
              <a:srgbClr val="04362D"/>
            </a:gs>
            <a:gs pos="0">
              <a:srgbClr val="054035"/>
            </a:gs>
          </a:gsLst>
          <a:path path="shape">
            <a:fillToRect l="50000" t="50000" r="50000" b="50000"/>
          </a:path>
          <a:tileRect/>
        </a:gra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0947B038-9C41-EF4F-E6E4-CC50B4865A0E}"/>
              </a:ext>
            </a:extLst>
          </p:cNvPr>
          <p:cNvSpPr txBox="1"/>
          <p:nvPr/>
        </p:nvSpPr>
        <p:spPr>
          <a:xfrm>
            <a:off x="4080387" y="668594"/>
            <a:ext cx="6096000" cy="523220"/>
          </a:xfrm>
          <a:prstGeom prst="rect">
            <a:avLst/>
          </a:prstGeom>
          <a:noFill/>
        </p:spPr>
        <p:txBody>
          <a:bodyPr wrap="square">
            <a:spAutoFit/>
          </a:bodyPr>
          <a:lstStyle/>
          <a:p>
            <a:r>
              <a:rPr lang="en-US" sz="2800" dirty="0">
                <a:solidFill>
                  <a:schemeClr val="bg1">
                    <a:lumMod val="95000"/>
                  </a:schemeClr>
                </a:solidFill>
                <a:latin typeface="Gotham Black" panose="02000603040000020004" pitchFamily="2" charset="0"/>
              </a:rPr>
              <a:t>Types Of Rancidity </a:t>
            </a:r>
            <a:endParaRPr lang="en-IN" sz="2800" dirty="0">
              <a:solidFill>
                <a:schemeClr val="bg1">
                  <a:lumMod val="95000"/>
                </a:schemeClr>
              </a:solidFill>
              <a:latin typeface="Gotham Black" panose="02000603040000020004" pitchFamily="2" charset="0"/>
            </a:endParaRPr>
          </a:p>
        </p:txBody>
      </p:sp>
      <p:cxnSp>
        <p:nvCxnSpPr>
          <p:cNvPr id="3" name="Straight Connector 2">
            <a:extLst>
              <a:ext uri="{FF2B5EF4-FFF2-40B4-BE49-F238E27FC236}">
                <a16:creationId xmlns:a16="http://schemas.microsoft.com/office/drawing/2014/main" id="{5BE50737-29BA-E228-8DFB-1592D40D7E34}"/>
              </a:ext>
            </a:extLst>
          </p:cNvPr>
          <p:cNvCxnSpPr/>
          <p:nvPr/>
        </p:nvCxnSpPr>
        <p:spPr>
          <a:xfrm>
            <a:off x="4247535" y="2644877"/>
            <a:ext cx="0" cy="3883742"/>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D321AA43-7A47-929F-44EC-2C3F119CFFE1}"/>
              </a:ext>
            </a:extLst>
          </p:cNvPr>
          <p:cNvSpPr txBox="1"/>
          <p:nvPr/>
        </p:nvSpPr>
        <p:spPr>
          <a:xfrm>
            <a:off x="442452" y="2608561"/>
            <a:ext cx="6096000" cy="461665"/>
          </a:xfrm>
          <a:prstGeom prst="rect">
            <a:avLst/>
          </a:prstGeom>
          <a:noFill/>
        </p:spPr>
        <p:txBody>
          <a:bodyPr wrap="square">
            <a:spAutoFit/>
          </a:bodyPr>
          <a:lstStyle/>
          <a:p>
            <a:r>
              <a:rPr lang="en-IN" sz="2400" dirty="0">
                <a:solidFill>
                  <a:schemeClr val="bg1"/>
                </a:solidFill>
                <a:latin typeface="Gotham Black" panose="02000603040000020004" pitchFamily="2" charset="0"/>
              </a:rPr>
              <a:t>Hydrolytic</a:t>
            </a:r>
            <a:r>
              <a:rPr lang="en-IN" sz="2000" dirty="0">
                <a:solidFill>
                  <a:schemeClr val="bg1"/>
                </a:solidFill>
                <a:latin typeface="Gotham Black" panose="02000603040000020004" pitchFamily="2" charset="0"/>
              </a:rPr>
              <a:t> </a:t>
            </a:r>
            <a:r>
              <a:rPr lang="en-IN" sz="2400" dirty="0">
                <a:solidFill>
                  <a:schemeClr val="bg1"/>
                </a:solidFill>
                <a:latin typeface="Gotham Black" panose="02000603040000020004" pitchFamily="2" charset="0"/>
              </a:rPr>
              <a:t>rancidity</a:t>
            </a:r>
            <a:endParaRPr lang="en-IN" sz="2000" dirty="0">
              <a:solidFill>
                <a:schemeClr val="bg1"/>
              </a:solidFill>
              <a:latin typeface="Gotham Black" panose="02000603040000020004" pitchFamily="2" charset="0"/>
            </a:endParaRPr>
          </a:p>
        </p:txBody>
      </p:sp>
      <p:sp>
        <p:nvSpPr>
          <p:cNvPr id="12" name="TextBox 11">
            <a:extLst>
              <a:ext uri="{FF2B5EF4-FFF2-40B4-BE49-F238E27FC236}">
                <a16:creationId xmlns:a16="http://schemas.microsoft.com/office/drawing/2014/main" id="{D4D284F9-66A0-13CC-25A8-1A6A53C0BF3C}"/>
              </a:ext>
            </a:extLst>
          </p:cNvPr>
          <p:cNvSpPr txBox="1"/>
          <p:nvPr/>
        </p:nvSpPr>
        <p:spPr>
          <a:xfrm>
            <a:off x="4881715" y="2657271"/>
            <a:ext cx="6096000" cy="400110"/>
          </a:xfrm>
          <a:prstGeom prst="rect">
            <a:avLst/>
          </a:prstGeom>
          <a:noFill/>
        </p:spPr>
        <p:txBody>
          <a:bodyPr wrap="square">
            <a:spAutoFit/>
          </a:bodyPr>
          <a:lstStyle/>
          <a:p>
            <a:r>
              <a:rPr lang="en-IN" sz="2000" dirty="0">
                <a:solidFill>
                  <a:schemeClr val="bg1"/>
                </a:solidFill>
                <a:latin typeface="Gotham Black" panose="02000603040000020004" pitchFamily="2" charset="0"/>
              </a:rPr>
              <a:t>Oxidative rancidity</a:t>
            </a:r>
          </a:p>
        </p:txBody>
      </p:sp>
      <p:cxnSp>
        <p:nvCxnSpPr>
          <p:cNvPr id="13" name="Straight Connector 12">
            <a:extLst>
              <a:ext uri="{FF2B5EF4-FFF2-40B4-BE49-F238E27FC236}">
                <a16:creationId xmlns:a16="http://schemas.microsoft.com/office/drawing/2014/main" id="{3CCEB219-A3CC-10C7-8A7F-E661B3A00482}"/>
              </a:ext>
            </a:extLst>
          </p:cNvPr>
          <p:cNvCxnSpPr/>
          <p:nvPr/>
        </p:nvCxnSpPr>
        <p:spPr>
          <a:xfrm>
            <a:off x="8146027" y="2644877"/>
            <a:ext cx="0" cy="3883742"/>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23EEC170-62C7-8973-4F99-19E8F9B6683C}"/>
              </a:ext>
            </a:extLst>
          </p:cNvPr>
          <p:cNvSpPr txBox="1"/>
          <p:nvPr/>
        </p:nvSpPr>
        <p:spPr>
          <a:xfrm>
            <a:off x="8829368" y="2711971"/>
            <a:ext cx="6096000" cy="400110"/>
          </a:xfrm>
          <a:prstGeom prst="rect">
            <a:avLst/>
          </a:prstGeom>
          <a:noFill/>
        </p:spPr>
        <p:txBody>
          <a:bodyPr wrap="square">
            <a:spAutoFit/>
          </a:bodyPr>
          <a:lstStyle/>
          <a:p>
            <a:r>
              <a:rPr lang="en-IN" sz="2000" dirty="0">
                <a:solidFill>
                  <a:schemeClr val="bg1"/>
                </a:solidFill>
                <a:latin typeface="Gotham Black" panose="02000603040000020004" pitchFamily="2" charset="0"/>
              </a:rPr>
              <a:t>Microbial rancidity</a:t>
            </a:r>
          </a:p>
        </p:txBody>
      </p:sp>
      <p:sp>
        <p:nvSpPr>
          <p:cNvPr id="16" name="TextBox 15">
            <a:extLst>
              <a:ext uri="{FF2B5EF4-FFF2-40B4-BE49-F238E27FC236}">
                <a16:creationId xmlns:a16="http://schemas.microsoft.com/office/drawing/2014/main" id="{3E5174DA-635C-9D23-D61E-F3D2B62BF798}"/>
              </a:ext>
            </a:extLst>
          </p:cNvPr>
          <p:cNvSpPr txBox="1"/>
          <p:nvPr/>
        </p:nvSpPr>
        <p:spPr>
          <a:xfrm>
            <a:off x="668597" y="3118125"/>
            <a:ext cx="2934927" cy="1200329"/>
          </a:xfrm>
          <a:prstGeom prst="rect">
            <a:avLst/>
          </a:prstGeom>
          <a:noFill/>
        </p:spPr>
        <p:txBody>
          <a:bodyPr wrap="square">
            <a:spAutoFit/>
          </a:bodyPr>
          <a:lstStyle/>
          <a:p>
            <a:r>
              <a:rPr lang="en-US" dirty="0">
                <a:solidFill>
                  <a:schemeClr val="bg1"/>
                </a:solidFill>
                <a:latin typeface="Gotham Thin" pitchFamily="50" charset="0"/>
              </a:rPr>
              <a:t>It occurs when water splits fatty acid chains away from the glycerol backbone in glycerides.</a:t>
            </a:r>
            <a:endParaRPr lang="en-IN" dirty="0">
              <a:solidFill>
                <a:schemeClr val="bg1"/>
              </a:solidFill>
              <a:latin typeface="Gotham Thin" pitchFamily="50" charset="0"/>
            </a:endParaRPr>
          </a:p>
        </p:txBody>
      </p:sp>
      <p:sp>
        <p:nvSpPr>
          <p:cNvPr id="18" name="TextBox 17">
            <a:extLst>
              <a:ext uri="{FF2B5EF4-FFF2-40B4-BE49-F238E27FC236}">
                <a16:creationId xmlns:a16="http://schemas.microsoft.com/office/drawing/2014/main" id="{8C47AA1C-460D-4823-4C88-62BC5EF42EB9}"/>
              </a:ext>
            </a:extLst>
          </p:cNvPr>
          <p:cNvSpPr txBox="1"/>
          <p:nvPr/>
        </p:nvSpPr>
        <p:spPr>
          <a:xfrm>
            <a:off x="4801831" y="3106091"/>
            <a:ext cx="2789901" cy="1477328"/>
          </a:xfrm>
          <a:prstGeom prst="rect">
            <a:avLst/>
          </a:prstGeom>
          <a:noFill/>
        </p:spPr>
        <p:txBody>
          <a:bodyPr wrap="square">
            <a:spAutoFit/>
          </a:bodyPr>
          <a:lstStyle/>
          <a:p>
            <a:r>
              <a:rPr lang="en-US" dirty="0">
                <a:solidFill>
                  <a:schemeClr val="bg1"/>
                </a:solidFill>
                <a:latin typeface="Gotham Thin" pitchFamily="50" charset="0"/>
              </a:rPr>
              <a:t>It occurs when the double bonds of an unsaturated fatty acid react chemically with oxygen.</a:t>
            </a:r>
            <a:endParaRPr lang="en-IN" dirty="0">
              <a:solidFill>
                <a:schemeClr val="bg1"/>
              </a:solidFill>
              <a:latin typeface="Gotham Thin" pitchFamily="50" charset="0"/>
            </a:endParaRPr>
          </a:p>
        </p:txBody>
      </p:sp>
      <p:sp>
        <p:nvSpPr>
          <p:cNvPr id="19" name="TextBox 18">
            <a:extLst>
              <a:ext uri="{FF2B5EF4-FFF2-40B4-BE49-F238E27FC236}">
                <a16:creationId xmlns:a16="http://schemas.microsoft.com/office/drawing/2014/main" id="{2E4834C6-41A5-C789-871B-7D81EBFBD06A}"/>
              </a:ext>
            </a:extLst>
          </p:cNvPr>
          <p:cNvSpPr txBox="1"/>
          <p:nvPr/>
        </p:nvSpPr>
        <p:spPr>
          <a:xfrm>
            <a:off x="8781436" y="3118125"/>
            <a:ext cx="2789901" cy="2031325"/>
          </a:xfrm>
          <a:prstGeom prst="rect">
            <a:avLst/>
          </a:prstGeom>
          <a:noFill/>
        </p:spPr>
        <p:txBody>
          <a:bodyPr wrap="square">
            <a:spAutoFit/>
          </a:bodyPr>
          <a:lstStyle/>
          <a:p>
            <a:r>
              <a:rPr lang="en-US" dirty="0">
                <a:solidFill>
                  <a:schemeClr val="bg1"/>
                </a:solidFill>
                <a:latin typeface="Gotham Thin" pitchFamily="50" charset="0"/>
              </a:rPr>
              <a:t> It is a process in which microorganisms such as bacteria use their enzymes, including lipases, to break down chemical structures in the fat.</a:t>
            </a:r>
            <a:endParaRPr lang="en-IN" dirty="0">
              <a:solidFill>
                <a:schemeClr val="bg1"/>
              </a:solidFill>
              <a:latin typeface="Gotham Thin" pitchFamily="50" charset="0"/>
            </a:endParaRPr>
          </a:p>
        </p:txBody>
      </p:sp>
      <p:sp>
        <p:nvSpPr>
          <p:cNvPr id="21" name="Flowchart: Connector 20">
            <a:extLst>
              <a:ext uri="{FF2B5EF4-FFF2-40B4-BE49-F238E27FC236}">
                <a16:creationId xmlns:a16="http://schemas.microsoft.com/office/drawing/2014/main" id="{E349044B-13F4-88BD-4434-6B57973A2ED5}"/>
              </a:ext>
            </a:extLst>
          </p:cNvPr>
          <p:cNvSpPr/>
          <p:nvPr/>
        </p:nvSpPr>
        <p:spPr>
          <a:xfrm>
            <a:off x="1783154" y="1751630"/>
            <a:ext cx="705812" cy="705812"/>
          </a:xfrm>
          <a:prstGeom prst="flowChartConnector">
            <a:avLst/>
          </a:prstGeom>
          <a:noFill/>
          <a:ln w="762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Gotham Black" panose="02000603040000020004" pitchFamily="2" charset="0"/>
              </a:rPr>
              <a:t>1</a:t>
            </a:r>
            <a:endParaRPr lang="en-IN" sz="1000" dirty="0">
              <a:solidFill>
                <a:schemeClr val="bg1"/>
              </a:solidFill>
              <a:latin typeface="Gotham Black" panose="02000603040000020004" pitchFamily="2" charset="0"/>
            </a:endParaRPr>
          </a:p>
        </p:txBody>
      </p:sp>
      <p:sp>
        <p:nvSpPr>
          <p:cNvPr id="24" name="Flowchart: Connector 23">
            <a:extLst>
              <a:ext uri="{FF2B5EF4-FFF2-40B4-BE49-F238E27FC236}">
                <a16:creationId xmlns:a16="http://schemas.microsoft.com/office/drawing/2014/main" id="{6FDC256D-9680-9D68-FE62-276CA66C25F4}"/>
              </a:ext>
            </a:extLst>
          </p:cNvPr>
          <p:cNvSpPr/>
          <p:nvPr/>
        </p:nvSpPr>
        <p:spPr>
          <a:xfrm>
            <a:off x="5843875" y="1751630"/>
            <a:ext cx="705812" cy="705812"/>
          </a:xfrm>
          <a:prstGeom prst="flowChartConnector">
            <a:avLst/>
          </a:prstGeom>
          <a:noFill/>
          <a:ln w="762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bg1"/>
                </a:solidFill>
                <a:latin typeface="Gotham Black" panose="02000603040000020004" pitchFamily="2" charset="0"/>
              </a:rPr>
              <a:t>2</a:t>
            </a:r>
            <a:endParaRPr lang="en-IN" sz="1000" dirty="0">
              <a:solidFill>
                <a:schemeClr val="bg1"/>
              </a:solidFill>
              <a:latin typeface="Gotham Black" panose="02000603040000020004" pitchFamily="2" charset="0"/>
            </a:endParaRPr>
          </a:p>
        </p:txBody>
      </p:sp>
      <p:sp>
        <p:nvSpPr>
          <p:cNvPr id="25" name="Flowchart: Connector 24">
            <a:extLst>
              <a:ext uri="{FF2B5EF4-FFF2-40B4-BE49-F238E27FC236}">
                <a16:creationId xmlns:a16="http://schemas.microsoft.com/office/drawing/2014/main" id="{8D39B2D0-DF86-C46D-95AB-F703011A99FD}"/>
              </a:ext>
            </a:extLst>
          </p:cNvPr>
          <p:cNvSpPr/>
          <p:nvPr/>
        </p:nvSpPr>
        <p:spPr>
          <a:xfrm>
            <a:off x="9823480" y="1828763"/>
            <a:ext cx="705812" cy="705812"/>
          </a:xfrm>
          <a:prstGeom prst="flowChartConnector">
            <a:avLst/>
          </a:prstGeom>
          <a:noFill/>
          <a:ln w="762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Gotham Black" panose="02000603040000020004" pitchFamily="2" charset="0"/>
              </a:rPr>
              <a:t>3</a:t>
            </a:r>
            <a:endParaRPr lang="en-IN" sz="1000" dirty="0">
              <a:solidFill>
                <a:schemeClr val="bg1"/>
              </a:solidFill>
              <a:latin typeface="Gotham Black" panose="02000603040000020004" pitchFamily="2" charset="0"/>
            </a:endParaRPr>
          </a:p>
        </p:txBody>
      </p:sp>
    </p:spTree>
    <p:extLst>
      <p:ext uri="{BB962C8B-B14F-4D97-AF65-F5344CB8AC3E}">
        <p14:creationId xmlns:p14="http://schemas.microsoft.com/office/powerpoint/2010/main" val="8163196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100000">
              <a:srgbClr val="032B24"/>
            </a:gs>
            <a:gs pos="76000">
              <a:srgbClr val="04362D"/>
            </a:gs>
            <a:gs pos="0">
              <a:srgbClr val="054035"/>
            </a:gs>
          </a:gsLst>
          <a:path path="shape">
            <a:fillToRect l="50000" t="50000" r="50000" b="50000"/>
          </a:path>
          <a:tileRect/>
        </a:gradFill>
        <a:effectLst/>
      </p:bgPr>
    </p:bg>
    <p:spTree>
      <p:nvGrpSpPr>
        <p:cNvPr id="1" name="">
          <a:extLst>
            <a:ext uri="{FF2B5EF4-FFF2-40B4-BE49-F238E27FC236}">
              <a16:creationId xmlns:a16="http://schemas.microsoft.com/office/drawing/2014/main" id="{EC30F534-CB46-2CDF-5908-28255C544CA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496DFB3-94C7-B34C-7F0A-093A9762A3C9}"/>
              </a:ext>
            </a:extLst>
          </p:cNvPr>
          <p:cNvSpPr txBox="1"/>
          <p:nvPr/>
        </p:nvSpPr>
        <p:spPr>
          <a:xfrm>
            <a:off x="835743" y="261836"/>
            <a:ext cx="6096000" cy="584775"/>
          </a:xfrm>
          <a:prstGeom prst="rect">
            <a:avLst/>
          </a:prstGeom>
          <a:noFill/>
        </p:spPr>
        <p:txBody>
          <a:bodyPr wrap="square">
            <a:spAutoFit/>
          </a:bodyPr>
          <a:lstStyle/>
          <a:p>
            <a:r>
              <a:rPr lang="en-IN" sz="2800" dirty="0">
                <a:solidFill>
                  <a:schemeClr val="bg1"/>
                </a:solidFill>
                <a:latin typeface="Gotham Black" panose="02000603040000020004" pitchFamily="2" charset="0"/>
              </a:rPr>
              <a:t>Hydrolytic </a:t>
            </a:r>
            <a:r>
              <a:rPr lang="en-IN" sz="3200" dirty="0">
                <a:solidFill>
                  <a:schemeClr val="bg1"/>
                </a:solidFill>
                <a:latin typeface="Gotham Black" panose="02000603040000020004" pitchFamily="2" charset="0"/>
              </a:rPr>
              <a:t>rancidity</a:t>
            </a:r>
            <a:endParaRPr lang="en-IN" sz="2800" dirty="0">
              <a:solidFill>
                <a:schemeClr val="bg1"/>
              </a:solidFill>
              <a:latin typeface="Gotham Black" panose="02000603040000020004" pitchFamily="2" charset="0"/>
            </a:endParaRPr>
          </a:p>
        </p:txBody>
      </p:sp>
      <p:sp>
        <p:nvSpPr>
          <p:cNvPr id="21" name="Flowchart: Connector 20">
            <a:extLst>
              <a:ext uri="{FF2B5EF4-FFF2-40B4-BE49-F238E27FC236}">
                <a16:creationId xmlns:a16="http://schemas.microsoft.com/office/drawing/2014/main" id="{591B2F51-3C7B-BA14-91AE-E8168ADE57E8}"/>
              </a:ext>
            </a:extLst>
          </p:cNvPr>
          <p:cNvSpPr/>
          <p:nvPr/>
        </p:nvSpPr>
        <p:spPr>
          <a:xfrm>
            <a:off x="191731" y="345169"/>
            <a:ext cx="501442" cy="501442"/>
          </a:xfrm>
          <a:prstGeom prst="flowChartConnector">
            <a:avLst/>
          </a:prstGeom>
          <a:noFill/>
          <a:ln w="762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Gotham Black" panose="02000603040000020004" pitchFamily="2" charset="0"/>
              </a:rPr>
              <a:t>1</a:t>
            </a:r>
            <a:endParaRPr lang="en-IN" sz="1000" dirty="0">
              <a:solidFill>
                <a:schemeClr val="bg1"/>
              </a:solidFill>
              <a:latin typeface="Gotham Black" panose="02000603040000020004" pitchFamily="2" charset="0"/>
            </a:endParaRPr>
          </a:p>
        </p:txBody>
      </p:sp>
      <p:sp>
        <p:nvSpPr>
          <p:cNvPr id="2" name="TextBox 1">
            <a:extLst>
              <a:ext uri="{FF2B5EF4-FFF2-40B4-BE49-F238E27FC236}">
                <a16:creationId xmlns:a16="http://schemas.microsoft.com/office/drawing/2014/main" id="{3E61E2E7-86FC-02DE-D3EA-14BD8803932C}"/>
              </a:ext>
            </a:extLst>
          </p:cNvPr>
          <p:cNvSpPr txBox="1"/>
          <p:nvPr/>
        </p:nvSpPr>
        <p:spPr>
          <a:xfrm>
            <a:off x="806246" y="996201"/>
            <a:ext cx="9999405" cy="1323439"/>
          </a:xfrm>
          <a:prstGeom prst="rect">
            <a:avLst/>
          </a:prstGeom>
          <a:noFill/>
        </p:spPr>
        <p:txBody>
          <a:bodyPr wrap="square">
            <a:spAutoFit/>
          </a:bodyPr>
          <a:lstStyle/>
          <a:p>
            <a:pPr algn="just"/>
            <a:r>
              <a:rPr lang="en-US" sz="2000" dirty="0">
                <a:solidFill>
                  <a:schemeClr val="bg1"/>
                </a:solidFill>
                <a:latin typeface="Gotham Thin" pitchFamily="50" charset="0"/>
              </a:rPr>
              <a:t>Hydrolytic rancidity is the breakdown of fats (triglycerides) in the presence of water, resulting in the release of free fatty acids and glycerol. This reaction creates a soapy, bitter, or foul-smelling off-flavor. It commonly affects dairy, unrefined oils, and foods with high moisture content</a:t>
            </a:r>
            <a:endParaRPr lang="en-IN" sz="2000" dirty="0">
              <a:solidFill>
                <a:schemeClr val="bg1"/>
              </a:solidFill>
              <a:latin typeface="Gotham Thin" pitchFamily="50" charset="0"/>
            </a:endParaRPr>
          </a:p>
        </p:txBody>
      </p:sp>
      <p:sp>
        <p:nvSpPr>
          <p:cNvPr id="7" name="TextBox 6">
            <a:extLst>
              <a:ext uri="{FF2B5EF4-FFF2-40B4-BE49-F238E27FC236}">
                <a16:creationId xmlns:a16="http://schemas.microsoft.com/office/drawing/2014/main" id="{43DD4EE0-9DEB-7F74-4461-6827D9B4B26C}"/>
              </a:ext>
            </a:extLst>
          </p:cNvPr>
          <p:cNvSpPr txBox="1"/>
          <p:nvPr/>
        </p:nvSpPr>
        <p:spPr>
          <a:xfrm>
            <a:off x="806247" y="4964117"/>
            <a:ext cx="9999404" cy="1015663"/>
          </a:xfrm>
          <a:prstGeom prst="rect">
            <a:avLst/>
          </a:prstGeom>
          <a:noFill/>
        </p:spPr>
        <p:txBody>
          <a:bodyPr wrap="square">
            <a:spAutoFit/>
          </a:bodyPr>
          <a:lstStyle/>
          <a:p>
            <a:pPr algn="just"/>
            <a:r>
              <a:rPr lang="en-US" sz="2000" dirty="0">
                <a:solidFill>
                  <a:schemeClr val="bg1"/>
                </a:solidFill>
                <a:latin typeface="Gotham Thin" pitchFamily="50" charset="0"/>
              </a:rPr>
              <a:t>Butter turns rancid primarily when its fat molecules break down through oxidation or hydrolysis. This chemical process releases free fatty acids—notably butyric acid—which causes the distinct sour, paint-like, or unpleasant smell</a:t>
            </a:r>
            <a:endParaRPr lang="en-IN" sz="2000" dirty="0">
              <a:solidFill>
                <a:schemeClr val="bg1"/>
              </a:solidFill>
              <a:latin typeface="Gotham Thin" pitchFamily="50" charset="0"/>
            </a:endParaRPr>
          </a:p>
        </p:txBody>
      </p:sp>
      <p:pic>
        <p:nvPicPr>
          <p:cNvPr id="11" name="Picture 10">
            <a:extLst>
              <a:ext uri="{FF2B5EF4-FFF2-40B4-BE49-F238E27FC236}">
                <a16:creationId xmlns:a16="http://schemas.microsoft.com/office/drawing/2014/main" id="{83088169-A6F1-F239-F552-195B6E66E1DC}"/>
              </a:ext>
            </a:extLst>
          </p:cNvPr>
          <p:cNvPicPr>
            <a:picLocks noChangeAspect="1"/>
          </p:cNvPicPr>
          <p:nvPr/>
        </p:nvPicPr>
        <p:blipFill>
          <a:blip r:embed="rId2"/>
          <a:stretch>
            <a:fillRect/>
          </a:stretch>
        </p:blipFill>
        <p:spPr>
          <a:xfrm>
            <a:off x="3733192" y="2678468"/>
            <a:ext cx="2972409" cy="1980898"/>
          </a:xfrm>
          <a:prstGeom prst="rect">
            <a:avLst/>
          </a:prstGeom>
          <a:ln>
            <a:noFill/>
          </a:ln>
          <a:effectLst>
            <a:outerShdw blurRad="190500" algn="tl" rotWithShape="0">
              <a:srgbClr val="000000">
                <a:alpha val="70000"/>
              </a:srgbClr>
            </a:outerShdw>
          </a:effectLst>
        </p:spPr>
      </p:pic>
      <p:sp>
        <p:nvSpPr>
          <p:cNvPr id="14" name="TextBox 13">
            <a:extLst>
              <a:ext uri="{FF2B5EF4-FFF2-40B4-BE49-F238E27FC236}">
                <a16:creationId xmlns:a16="http://schemas.microsoft.com/office/drawing/2014/main" id="{68833138-96FE-6A08-F174-08EC25DBC112}"/>
              </a:ext>
            </a:extLst>
          </p:cNvPr>
          <p:cNvSpPr txBox="1"/>
          <p:nvPr/>
        </p:nvSpPr>
        <p:spPr>
          <a:xfrm>
            <a:off x="806246" y="-733185"/>
            <a:ext cx="6096000" cy="523220"/>
          </a:xfrm>
          <a:prstGeom prst="rect">
            <a:avLst/>
          </a:prstGeom>
          <a:noFill/>
        </p:spPr>
        <p:txBody>
          <a:bodyPr wrap="square">
            <a:spAutoFit/>
          </a:bodyPr>
          <a:lstStyle/>
          <a:p>
            <a:r>
              <a:rPr lang="en-IN" sz="2800" dirty="0">
                <a:solidFill>
                  <a:schemeClr val="bg1"/>
                </a:solidFill>
                <a:latin typeface="Gotham Black" panose="02000603040000020004" pitchFamily="2" charset="0"/>
              </a:rPr>
              <a:t>Oxidative rancidity </a:t>
            </a:r>
          </a:p>
        </p:txBody>
      </p:sp>
      <p:sp>
        <p:nvSpPr>
          <p:cNvPr id="15" name="Flowchart: Connector 14">
            <a:extLst>
              <a:ext uri="{FF2B5EF4-FFF2-40B4-BE49-F238E27FC236}">
                <a16:creationId xmlns:a16="http://schemas.microsoft.com/office/drawing/2014/main" id="{3239ECBE-498E-0BD8-D017-BAFB3740CD8C}"/>
              </a:ext>
            </a:extLst>
          </p:cNvPr>
          <p:cNvSpPr/>
          <p:nvPr/>
        </p:nvSpPr>
        <p:spPr>
          <a:xfrm>
            <a:off x="162234" y="-649852"/>
            <a:ext cx="501442" cy="501442"/>
          </a:xfrm>
          <a:prstGeom prst="flowChartConnector">
            <a:avLst/>
          </a:prstGeom>
          <a:noFill/>
          <a:ln w="762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Gotham Black" panose="02000603040000020004" pitchFamily="2" charset="0"/>
              </a:rPr>
              <a:t>2</a:t>
            </a:r>
            <a:endParaRPr lang="en-IN" sz="1000" dirty="0">
              <a:solidFill>
                <a:schemeClr val="bg1"/>
              </a:solidFill>
              <a:latin typeface="Gotham Black" panose="02000603040000020004" pitchFamily="2" charset="0"/>
            </a:endParaRPr>
          </a:p>
        </p:txBody>
      </p:sp>
      <p:sp>
        <p:nvSpPr>
          <p:cNvPr id="16" name="TextBox 15">
            <a:extLst>
              <a:ext uri="{FF2B5EF4-FFF2-40B4-BE49-F238E27FC236}">
                <a16:creationId xmlns:a16="http://schemas.microsoft.com/office/drawing/2014/main" id="{87E239D7-DC7B-B62A-928D-9695B57B5EB9}"/>
              </a:ext>
            </a:extLst>
          </p:cNvPr>
          <p:cNvSpPr txBox="1"/>
          <p:nvPr/>
        </p:nvSpPr>
        <p:spPr>
          <a:xfrm>
            <a:off x="806246" y="-1450639"/>
            <a:ext cx="6096000" cy="523220"/>
          </a:xfrm>
          <a:prstGeom prst="rect">
            <a:avLst/>
          </a:prstGeom>
          <a:noFill/>
        </p:spPr>
        <p:txBody>
          <a:bodyPr wrap="square">
            <a:spAutoFit/>
          </a:bodyPr>
          <a:lstStyle/>
          <a:p>
            <a:r>
              <a:rPr lang="en-IN" sz="2800" dirty="0">
                <a:solidFill>
                  <a:schemeClr val="bg1"/>
                </a:solidFill>
                <a:latin typeface="Gotham Black" panose="02000603040000020004" pitchFamily="2" charset="0"/>
              </a:rPr>
              <a:t>Microbial rancidity</a:t>
            </a:r>
          </a:p>
        </p:txBody>
      </p:sp>
      <p:sp>
        <p:nvSpPr>
          <p:cNvPr id="17" name="Flowchart: Connector 16">
            <a:extLst>
              <a:ext uri="{FF2B5EF4-FFF2-40B4-BE49-F238E27FC236}">
                <a16:creationId xmlns:a16="http://schemas.microsoft.com/office/drawing/2014/main" id="{7E049B6A-4FBF-127E-DD6F-0B976ADDB8B3}"/>
              </a:ext>
            </a:extLst>
          </p:cNvPr>
          <p:cNvSpPr/>
          <p:nvPr/>
        </p:nvSpPr>
        <p:spPr>
          <a:xfrm>
            <a:off x="162234" y="-1367306"/>
            <a:ext cx="501442" cy="501442"/>
          </a:xfrm>
          <a:prstGeom prst="flowChartConnector">
            <a:avLst/>
          </a:prstGeom>
          <a:noFill/>
          <a:ln w="762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Gotham Black" panose="02000603040000020004" pitchFamily="2" charset="0"/>
              </a:rPr>
              <a:t>3</a:t>
            </a:r>
            <a:endParaRPr lang="en-IN" sz="1000" dirty="0">
              <a:solidFill>
                <a:schemeClr val="bg1"/>
              </a:solidFill>
              <a:latin typeface="Gotham Black" panose="02000603040000020004" pitchFamily="2" charset="0"/>
            </a:endParaRPr>
          </a:p>
        </p:txBody>
      </p:sp>
    </p:spTree>
    <p:extLst>
      <p:ext uri="{BB962C8B-B14F-4D97-AF65-F5344CB8AC3E}">
        <p14:creationId xmlns:p14="http://schemas.microsoft.com/office/powerpoint/2010/main" val="9632144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100000">
              <a:srgbClr val="032B24"/>
            </a:gs>
            <a:gs pos="76000">
              <a:srgbClr val="04362D"/>
            </a:gs>
            <a:gs pos="0">
              <a:srgbClr val="054035"/>
            </a:gs>
          </a:gsLst>
          <a:path path="shape">
            <a:fillToRect l="50000" t="50000" r="50000" b="50000"/>
          </a:path>
          <a:tileRect/>
        </a:gradFill>
        <a:effectLst/>
      </p:bgPr>
    </p:bg>
    <p:spTree>
      <p:nvGrpSpPr>
        <p:cNvPr id="1" name="">
          <a:extLst>
            <a:ext uri="{FF2B5EF4-FFF2-40B4-BE49-F238E27FC236}">
              <a16:creationId xmlns:a16="http://schemas.microsoft.com/office/drawing/2014/main" id="{4455D5AC-BDA8-54F2-4463-2B594A67FFC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97E9056-0AE9-4B80-F95A-237753D30879}"/>
              </a:ext>
            </a:extLst>
          </p:cNvPr>
          <p:cNvSpPr txBox="1"/>
          <p:nvPr/>
        </p:nvSpPr>
        <p:spPr>
          <a:xfrm>
            <a:off x="835743" y="261836"/>
            <a:ext cx="6096000" cy="523220"/>
          </a:xfrm>
          <a:prstGeom prst="rect">
            <a:avLst/>
          </a:prstGeom>
          <a:noFill/>
        </p:spPr>
        <p:txBody>
          <a:bodyPr wrap="square">
            <a:spAutoFit/>
          </a:bodyPr>
          <a:lstStyle/>
          <a:p>
            <a:r>
              <a:rPr lang="en-IN" sz="2800" dirty="0">
                <a:solidFill>
                  <a:schemeClr val="bg1"/>
                </a:solidFill>
                <a:latin typeface="Gotham Black" panose="02000603040000020004" pitchFamily="2" charset="0"/>
              </a:rPr>
              <a:t>Oxidative rancidity </a:t>
            </a:r>
          </a:p>
        </p:txBody>
      </p:sp>
      <p:sp>
        <p:nvSpPr>
          <p:cNvPr id="21" name="Flowchart: Connector 20">
            <a:extLst>
              <a:ext uri="{FF2B5EF4-FFF2-40B4-BE49-F238E27FC236}">
                <a16:creationId xmlns:a16="http://schemas.microsoft.com/office/drawing/2014/main" id="{042E6463-F928-6CC1-5BE9-547645DC39C1}"/>
              </a:ext>
            </a:extLst>
          </p:cNvPr>
          <p:cNvSpPr/>
          <p:nvPr/>
        </p:nvSpPr>
        <p:spPr>
          <a:xfrm>
            <a:off x="191731" y="345169"/>
            <a:ext cx="501442" cy="501442"/>
          </a:xfrm>
          <a:prstGeom prst="flowChartConnector">
            <a:avLst/>
          </a:prstGeom>
          <a:noFill/>
          <a:ln w="762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Gotham Black" panose="02000603040000020004" pitchFamily="2" charset="0"/>
              </a:rPr>
              <a:t>2</a:t>
            </a:r>
            <a:endParaRPr lang="en-IN" sz="1000" dirty="0">
              <a:solidFill>
                <a:schemeClr val="bg1"/>
              </a:solidFill>
              <a:latin typeface="Gotham Black" panose="02000603040000020004" pitchFamily="2" charset="0"/>
            </a:endParaRPr>
          </a:p>
        </p:txBody>
      </p:sp>
      <p:sp>
        <p:nvSpPr>
          <p:cNvPr id="2" name="TextBox 1">
            <a:extLst>
              <a:ext uri="{FF2B5EF4-FFF2-40B4-BE49-F238E27FC236}">
                <a16:creationId xmlns:a16="http://schemas.microsoft.com/office/drawing/2014/main" id="{520EA2E6-C14F-2668-803C-A1CD5330D318}"/>
              </a:ext>
            </a:extLst>
          </p:cNvPr>
          <p:cNvSpPr txBox="1"/>
          <p:nvPr/>
        </p:nvSpPr>
        <p:spPr>
          <a:xfrm>
            <a:off x="806247" y="996201"/>
            <a:ext cx="10500850" cy="1323439"/>
          </a:xfrm>
          <a:prstGeom prst="rect">
            <a:avLst/>
          </a:prstGeom>
          <a:noFill/>
        </p:spPr>
        <p:txBody>
          <a:bodyPr wrap="square">
            <a:spAutoFit/>
          </a:bodyPr>
          <a:lstStyle/>
          <a:p>
            <a:pPr algn="just"/>
            <a:r>
              <a:rPr lang="en-US" sz="2000" dirty="0">
                <a:solidFill>
                  <a:schemeClr val="bg1"/>
                </a:solidFill>
                <a:latin typeface="Gotham Thin" pitchFamily="50" charset="0"/>
              </a:rPr>
              <a:t>Oxidative rancidity is the process where fats and oils in food react with oxygen in the atmospheric air. This oxidation breaks down unsaturated fatty acids, producing volatile compounds like aldehydes and ketones. This gives the food an unpleasant, foul smell and a bad taste, making it inedible</a:t>
            </a:r>
            <a:endParaRPr lang="en-IN" sz="2000" dirty="0">
              <a:solidFill>
                <a:schemeClr val="bg1"/>
              </a:solidFill>
              <a:latin typeface="Gotham Thin" pitchFamily="50" charset="0"/>
            </a:endParaRPr>
          </a:p>
        </p:txBody>
      </p:sp>
      <p:pic>
        <p:nvPicPr>
          <p:cNvPr id="2050" name="Picture 2" descr="Tasty Ways to Reinvent Stale Potato Chips">
            <a:extLst>
              <a:ext uri="{FF2B5EF4-FFF2-40B4-BE49-F238E27FC236}">
                <a16:creationId xmlns:a16="http://schemas.microsoft.com/office/drawing/2014/main" id="{63A0D25F-806A-7634-5678-DB6F763BC0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326" y="2949517"/>
            <a:ext cx="2836760" cy="188229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28FB473-A224-43ED-14F0-E42B8F993A48}"/>
              </a:ext>
            </a:extLst>
          </p:cNvPr>
          <p:cNvSpPr txBox="1"/>
          <p:nvPr/>
        </p:nvSpPr>
        <p:spPr>
          <a:xfrm>
            <a:off x="693173" y="5461689"/>
            <a:ext cx="8185354" cy="400110"/>
          </a:xfrm>
          <a:prstGeom prst="rect">
            <a:avLst/>
          </a:prstGeom>
          <a:noFill/>
        </p:spPr>
        <p:txBody>
          <a:bodyPr wrap="square">
            <a:spAutoFit/>
          </a:bodyPr>
          <a:lstStyle/>
          <a:p>
            <a:r>
              <a:rPr lang="en-US" sz="2000" dirty="0">
                <a:solidFill>
                  <a:schemeClr val="bg1"/>
                </a:solidFill>
                <a:latin typeface="Gotham Thin" pitchFamily="50" charset="0"/>
              </a:rPr>
              <a:t>Potato chips left in the air turns rancid due to oxidation</a:t>
            </a:r>
            <a:endParaRPr lang="en-IN" sz="2000" dirty="0">
              <a:solidFill>
                <a:schemeClr val="bg1"/>
              </a:solidFill>
              <a:latin typeface="Gotham Thin" pitchFamily="50" charset="0"/>
            </a:endParaRPr>
          </a:p>
        </p:txBody>
      </p:sp>
      <p:sp>
        <p:nvSpPr>
          <p:cNvPr id="9" name="TextBox 8">
            <a:extLst>
              <a:ext uri="{FF2B5EF4-FFF2-40B4-BE49-F238E27FC236}">
                <a16:creationId xmlns:a16="http://schemas.microsoft.com/office/drawing/2014/main" id="{064306AD-77FD-C311-C1C4-621B344FF71C}"/>
              </a:ext>
            </a:extLst>
          </p:cNvPr>
          <p:cNvSpPr txBox="1"/>
          <p:nvPr/>
        </p:nvSpPr>
        <p:spPr>
          <a:xfrm>
            <a:off x="835743" y="-732329"/>
            <a:ext cx="6096000" cy="523220"/>
          </a:xfrm>
          <a:prstGeom prst="rect">
            <a:avLst/>
          </a:prstGeom>
          <a:noFill/>
        </p:spPr>
        <p:txBody>
          <a:bodyPr wrap="square">
            <a:spAutoFit/>
          </a:bodyPr>
          <a:lstStyle/>
          <a:p>
            <a:r>
              <a:rPr lang="en-IN" sz="2800" dirty="0">
                <a:solidFill>
                  <a:schemeClr val="bg1"/>
                </a:solidFill>
                <a:latin typeface="Gotham Black" panose="02000603040000020004" pitchFamily="2" charset="0"/>
              </a:rPr>
              <a:t>Microbial rancidity</a:t>
            </a:r>
          </a:p>
        </p:txBody>
      </p:sp>
      <p:sp>
        <p:nvSpPr>
          <p:cNvPr id="10" name="Flowchart: Connector 9">
            <a:extLst>
              <a:ext uri="{FF2B5EF4-FFF2-40B4-BE49-F238E27FC236}">
                <a16:creationId xmlns:a16="http://schemas.microsoft.com/office/drawing/2014/main" id="{5F2DB1CA-0164-E12F-92D0-8C27A1210E5E}"/>
              </a:ext>
            </a:extLst>
          </p:cNvPr>
          <p:cNvSpPr/>
          <p:nvPr/>
        </p:nvSpPr>
        <p:spPr>
          <a:xfrm>
            <a:off x="191731" y="-648996"/>
            <a:ext cx="501442" cy="501442"/>
          </a:xfrm>
          <a:prstGeom prst="flowChartConnector">
            <a:avLst/>
          </a:prstGeom>
          <a:noFill/>
          <a:ln w="762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Gotham Black" panose="02000603040000020004" pitchFamily="2" charset="0"/>
              </a:rPr>
              <a:t>3</a:t>
            </a:r>
            <a:endParaRPr lang="en-IN" sz="1000" dirty="0">
              <a:solidFill>
                <a:schemeClr val="bg1"/>
              </a:solidFill>
              <a:latin typeface="Gotham Black" panose="02000603040000020004" pitchFamily="2" charset="0"/>
            </a:endParaRPr>
          </a:p>
        </p:txBody>
      </p:sp>
    </p:spTree>
    <p:extLst>
      <p:ext uri="{BB962C8B-B14F-4D97-AF65-F5344CB8AC3E}">
        <p14:creationId xmlns:p14="http://schemas.microsoft.com/office/powerpoint/2010/main" val="36621436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100000">
              <a:srgbClr val="032B24"/>
            </a:gs>
            <a:gs pos="76000">
              <a:srgbClr val="04362D"/>
            </a:gs>
            <a:gs pos="0">
              <a:srgbClr val="054035"/>
            </a:gs>
          </a:gsLst>
          <a:path path="shape">
            <a:fillToRect l="50000" t="50000" r="50000" b="50000"/>
          </a:path>
          <a:tileRect/>
        </a:gradFill>
        <a:effectLst/>
      </p:bgPr>
    </p:bg>
    <p:spTree>
      <p:nvGrpSpPr>
        <p:cNvPr id="1" name="">
          <a:extLst>
            <a:ext uri="{FF2B5EF4-FFF2-40B4-BE49-F238E27FC236}">
              <a16:creationId xmlns:a16="http://schemas.microsoft.com/office/drawing/2014/main" id="{2E3E5CBC-9049-5D9E-0DD5-E4FA6242EE9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3CB9C3C-B6BF-4872-6931-20883CD7F807}"/>
              </a:ext>
            </a:extLst>
          </p:cNvPr>
          <p:cNvSpPr txBox="1"/>
          <p:nvPr/>
        </p:nvSpPr>
        <p:spPr>
          <a:xfrm>
            <a:off x="835743" y="261836"/>
            <a:ext cx="6096000" cy="523220"/>
          </a:xfrm>
          <a:prstGeom prst="rect">
            <a:avLst/>
          </a:prstGeom>
          <a:noFill/>
        </p:spPr>
        <p:txBody>
          <a:bodyPr wrap="square">
            <a:spAutoFit/>
          </a:bodyPr>
          <a:lstStyle/>
          <a:p>
            <a:r>
              <a:rPr lang="en-IN" sz="2800" dirty="0">
                <a:solidFill>
                  <a:schemeClr val="bg1"/>
                </a:solidFill>
                <a:latin typeface="Gotham Black" panose="02000603040000020004" pitchFamily="2" charset="0"/>
              </a:rPr>
              <a:t>Microbial rancidity</a:t>
            </a:r>
          </a:p>
        </p:txBody>
      </p:sp>
      <p:sp>
        <p:nvSpPr>
          <p:cNvPr id="21" name="Flowchart: Connector 20">
            <a:extLst>
              <a:ext uri="{FF2B5EF4-FFF2-40B4-BE49-F238E27FC236}">
                <a16:creationId xmlns:a16="http://schemas.microsoft.com/office/drawing/2014/main" id="{2FA15E49-4880-A78A-7F1E-0AACF668EA87}"/>
              </a:ext>
            </a:extLst>
          </p:cNvPr>
          <p:cNvSpPr/>
          <p:nvPr/>
        </p:nvSpPr>
        <p:spPr>
          <a:xfrm>
            <a:off x="191731" y="345169"/>
            <a:ext cx="501442" cy="501442"/>
          </a:xfrm>
          <a:prstGeom prst="flowChartConnector">
            <a:avLst/>
          </a:prstGeom>
          <a:noFill/>
          <a:ln w="762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Gotham Black" panose="02000603040000020004" pitchFamily="2" charset="0"/>
              </a:rPr>
              <a:t>3</a:t>
            </a:r>
            <a:endParaRPr lang="en-IN" sz="1000" dirty="0">
              <a:solidFill>
                <a:schemeClr val="bg1"/>
              </a:solidFill>
              <a:latin typeface="Gotham Black" panose="02000603040000020004" pitchFamily="2" charset="0"/>
            </a:endParaRPr>
          </a:p>
        </p:txBody>
      </p:sp>
      <p:sp>
        <p:nvSpPr>
          <p:cNvPr id="2" name="TextBox 1">
            <a:extLst>
              <a:ext uri="{FF2B5EF4-FFF2-40B4-BE49-F238E27FC236}">
                <a16:creationId xmlns:a16="http://schemas.microsoft.com/office/drawing/2014/main" id="{FDFD0402-B6C6-37D5-1779-0784CC2FE9C0}"/>
              </a:ext>
            </a:extLst>
          </p:cNvPr>
          <p:cNvSpPr txBox="1"/>
          <p:nvPr/>
        </p:nvSpPr>
        <p:spPr>
          <a:xfrm>
            <a:off x="835743" y="846611"/>
            <a:ext cx="9714270" cy="1015663"/>
          </a:xfrm>
          <a:prstGeom prst="rect">
            <a:avLst/>
          </a:prstGeom>
          <a:noFill/>
        </p:spPr>
        <p:txBody>
          <a:bodyPr wrap="square">
            <a:spAutoFit/>
          </a:bodyPr>
          <a:lstStyle/>
          <a:p>
            <a:pPr algn="just"/>
            <a:r>
              <a:rPr lang="en-US" sz="2000" dirty="0">
                <a:solidFill>
                  <a:schemeClr val="bg1"/>
                </a:solidFill>
                <a:latin typeface="Gotham Thin" pitchFamily="50" charset="0"/>
              </a:rPr>
              <a:t>Microbial rancidity is a type of food spoilage where microorganisms (like bacteria, molds, and yeast) contaminate fats and oils. They release enzymes—primarily lipases</a:t>
            </a:r>
            <a:endParaRPr lang="en-IN" sz="2000" dirty="0">
              <a:solidFill>
                <a:schemeClr val="bg1"/>
              </a:solidFill>
              <a:latin typeface="Gotham Thin" pitchFamily="50" charset="0"/>
            </a:endParaRPr>
          </a:p>
        </p:txBody>
      </p:sp>
      <p:sp>
        <p:nvSpPr>
          <p:cNvPr id="3" name="TextBox 2">
            <a:extLst>
              <a:ext uri="{FF2B5EF4-FFF2-40B4-BE49-F238E27FC236}">
                <a16:creationId xmlns:a16="http://schemas.microsoft.com/office/drawing/2014/main" id="{851E7590-4049-50AE-3A15-772565FFB904}"/>
              </a:ext>
            </a:extLst>
          </p:cNvPr>
          <p:cNvSpPr txBox="1"/>
          <p:nvPr/>
        </p:nvSpPr>
        <p:spPr>
          <a:xfrm>
            <a:off x="835743" y="5438274"/>
            <a:ext cx="8185354" cy="400110"/>
          </a:xfrm>
          <a:prstGeom prst="rect">
            <a:avLst/>
          </a:prstGeom>
          <a:noFill/>
        </p:spPr>
        <p:txBody>
          <a:bodyPr wrap="square">
            <a:spAutoFit/>
          </a:bodyPr>
          <a:lstStyle/>
          <a:p>
            <a:r>
              <a:rPr lang="en-US" sz="2000" dirty="0">
                <a:solidFill>
                  <a:schemeClr val="bg1"/>
                </a:solidFill>
                <a:latin typeface="Gotham Thin" pitchFamily="50" charset="0"/>
              </a:rPr>
              <a:t>Walnuts turned rancid after kept in a humid environment</a:t>
            </a:r>
            <a:endParaRPr lang="en-IN" sz="2000" dirty="0">
              <a:solidFill>
                <a:schemeClr val="bg1"/>
              </a:solidFill>
              <a:latin typeface="Gotham Thin" pitchFamily="50" charset="0"/>
            </a:endParaRPr>
          </a:p>
        </p:txBody>
      </p:sp>
      <p:pic>
        <p:nvPicPr>
          <p:cNvPr id="3074" name="Picture 2" descr="It's SPOTTED walnut season – NUT • HUT">
            <a:extLst>
              <a:ext uri="{FF2B5EF4-FFF2-40B4-BE49-F238E27FC236}">
                <a16:creationId xmlns:a16="http://schemas.microsoft.com/office/drawing/2014/main" id="{E8733602-6A59-8E14-157D-BE2747F376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9846" y="2229573"/>
            <a:ext cx="2766154" cy="27661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07207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E43C2D4-A6E8-E7FC-58CD-BBCC59B64DF0}"/>
              </a:ext>
            </a:extLst>
          </p:cNvPr>
          <p:cNvSpPr txBox="1"/>
          <p:nvPr/>
        </p:nvSpPr>
        <p:spPr>
          <a:xfrm>
            <a:off x="3048000" y="444287"/>
            <a:ext cx="6096000" cy="707886"/>
          </a:xfrm>
          <a:prstGeom prst="rect">
            <a:avLst/>
          </a:prstGeom>
          <a:noFill/>
        </p:spPr>
        <p:txBody>
          <a:bodyPr wrap="square">
            <a:spAutoFit/>
          </a:bodyPr>
          <a:lstStyle/>
          <a:p>
            <a:r>
              <a:rPr lang="en-IN" sz="4000" dirty="0">
                <a:solidFill>
                  <a:schemeClr val="bg1"/>
                </a:solidFill>
                <a:latin typeface="Gotham Black" panose="02000603040000020004" pitchFamily="2" charset="0"/>
              </a:rPr>
              <a:t>Preventive Measures </a:t>
            </a:r>
          </a:p>
        </p:txBody>
      </p:sp>
      <p:sp>
        <p:nvSpPr>
          <p:cNvPr id="13" name="TextBox 12">
            <a:extLst>
              <a:ext uri="{FF2B5EF4-FFF2-40B4-BE49-F238E27FC236}">
                <a16:creationId xmlns:a16="http://schemas.microsoft.com/office/drawing/2014/main" id="{17BCC5AA-9BD9-4604-41E9-2B4B3919DDCC}"/>
              </a:ext>
            </a:extLst>
          </p:cNvPr>
          <p:cNvSpPr txBox="1"/>
          <p:nvPr/>
        </p:nvSpPr>
        <p:spPr>
          <a:xfrm>
            <a:off x="135656" y="1518842"/>
            <a:ext cx="7931866" cy="646331"/>
          </a:xfrm>
          <a:prstGeom prst="rect">
            <a:avLst/>
          </a:prstGeom>
          <a:noFill/>
        </p:spPr>
        <p:txBody>
          <a:bodyPr wrap="square">
            <a:spAutoFit/>
          </a:bodyPr>
          <a:lstStyle/>
          <a:p>
            <a:pPr marL="285750" indent="-285750" algn="just">
              <a:buFont typeface="Arial" panose="020B0604020202020204" pitchFamily="34" charset="0"/>
              <a:buChar char="•"/>
            </a:pPr>
            <a:r>
              <a:rPr lang="en-US" b="1" u="none" strike="noStrike" dirty="0">
                <a:solidFill>
                  <a:schemeClr val="bg1"/>
                </a:solidFill>
                <a:effectLst/>
                <a:latin typeface="Gotham" panose="02000504050000020004" pitchFamily="2" charset="0"/>
              </a:rPr>
              <a:t>Airtight Containers:</a:t>
            </a:r>
            <a:r>
              <a:rPr lang="en-US" dirty="0">
                <a:solidFill>
                  <a:schemeClr val="bg1"/>
                </a:solidFill>
                <a:latin typeface="Gotham" panose="02000504050000020004" pitchFamily="2" charset="0"/>
              </a:rPr>
              <a:t> Limiting the exposure of oils and fats to ambient air drastically slows down the rancidification process</a:t>
            </a:r>
            <a:endParaRPr lang="en-IN" dirty="0">
              <a:solidFill>
                <a:schemeClr val="bg1"/>
              </a:solidFill>
              <a:latin typeface="Gotham" panose="02000504050000020004" pitchFamily="2" charset="0"/>
            </a:endParaRPr>
          </a:p>
        </p:txBody>
      </p:sp>
      <p:pic>
        <p:nvPicPr>
          <p:cNvPr id="4098" name="Picture 2" descr="25,500+ Airtight Container Stock Photos, Pictures &amp; Royalty-Free Images -  iStock | Airtight box, Kitchen">
            <a:extLst>
              <a:ext uri="{FF2B5EF4-FFF2-40B4-BE49-F238E27FC236}">
                <a16:creationId xmlns:a16="http://schemas.microsoft.com/office/drawing/2014/main" id="{CA76DB5E-E932-B753-C3C5-C89516EA00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82561" y="1266743"/>
            <a:ext cx="2096730" cy="139782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EB7D0F29-3C70-40B7-881A-C3D57C63BEA1}"/>
              </a:ext>
            </a:extLst>
          </p:cNvPr>
          <p:cNvSpPr txBox="1"/>
          <p:nvPr/>
        </p:nvSpPr>
        <p:spPr>
          <a:xfrm>
            <a:off x="135657" y="2505670"/>
            <a:ext cx="7931865" cy="923330"/>
          </a:xfrm>
          <a:prstGeom prst="rect">
            <a:avLst/>
          </a:prstGeom>
          <a:noFill/>
        </p:spPr>
        <p:txBody>
          <a:bodyPr wrap="square">
            <a:spAutoFit/>
          </a:bodyPr>
          <a:lstStyle/>
          <a:p>
            <a:pPr marL="285750" indent="-285750" algn="just">
              <a:buFont typeface="Arial" panose="020B0604020202020204" pitchFamily="34" charset="0"/>
              <a:buChar char="•"/>
            </a:pPr>
            <a:r>
              <a:rPr lang="en-US" b="1" dirty="0">
                <a:solidFill>
                  <a:schemeClr val="bg1"/>
                </a:solidFill>
                <a:latin typeface="Gotham" panose="02000504050000020004" pitchFamily="2" charset="0"/>
              </a:rPr>
              <a:t>Low-Temperature Storage: </a:t>
            </a:r>
            <a:r>
              <a:rPr lang="en-US" dirty="0">
                <a:solidFill>
                  <a:schemeClr val="bg1"/>
                </a:solidFill>
                <a:latin typeface="Gotham" panose="02000504050000020004" pitchFamily="2" charset="0"/>
              </a:rPr>
              <a:t>Storing perishable foods in a refrigerator or freezer slows down the chemical and enzymatic reactions responsible for spoilage</a:t>
            </a:r>
            <a:endParaRPr lang="en-IN" dirty="0">
              <a:solidFill>
                <a:schemeClr val="bg1"/>
              </a:solidFill>
              <a:latin typeface="Gotham" panose="02000504050000020004" pitchFamily="2" charset="0"/>
            </a:endParaRPr>
          </a:p>
        </p:txBody>
      </p:sp>
      <p:pic>
        <p:nvPicPr>
          <p:cNvPr id="4100" name="Picture 4" descr="8,700+ Storing Food In Fridge Stock Photos, Pictures &amp; Royalty-Free Images  - iStock">
            <a:extLst>
              <a:ext uri="{FF2B5EF4-FFF2-40B4-BE49-F238E27FC236}">
                <a16:creationId xmlns:a16="http://schemas.microsoft.com/office/drawing/2014/main" id="{D5522A84-DD9F-7C76-9678-601A6F9B52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82561" y="2967335"/>
            <a:ext cx="2173852" cy="144923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CB5AF92B-2BD0-91A3-6337-C33D32EE6D30}"/>
              </a:ext>
            </a:extLst>
          </p:cNvPr>
          <p:cNvSpPr txBox="1"/>
          <p:nvPr/>
        </p:nvSpPr>
        <p:spPr>
          <a:xfrm>
            <a:off x="135655" y="3518670"/>
            <a:ext cx="7931865" cy="1200329"/>
          </a:xfrm>
          <a:prstGeom prst="rect">
            <a:avLst/>
          </a:prstGeom>
          <a:noFill/>
        </p:spPr>
        <p:txBody>
          <a:bodyPr wrap="square">
            <a:spAutoFit/>
          </a:bodyPr>
          <a:lstStyle/>
          <a:p>
            <a:pPr marL="285750" indent="-285750" algn="just">
              <a:buFont typeface="Arial" panose="020B0604020202020204" pitchFamily="34" charset="0"/>
              <a:buChar char="•"/>
            </a:pPr>
            <a:r>
              <a:rPr lang="en-US" b="1" dirty="0">
                <a:solidFill>
                  <a:schemeClr val="bg1"/>
                </a:solidFill>
                <a:latin typeface="Gotham" panose="02000504050000020004" pitchFamily="2" charset="0"/>
              </a:rPr>
              <a:t>Antioxidant Additives: </a:t>
            </a:r>
            <a:r>
              <a:rPr lang="en-US" dirty="0">
                <a:solidFill>
                  <a:schemeClr val="bg1"/>
                </a:solidFill>
                <a:latin typeface="Gotham" panose="02000504050000020004" pitchFamily="2" charset="0"/>
              </a:rPr>
              <a:t>You can add natural or synthetic antioxidants (such as Vitamin C, Vitamin E, BHA, or BHT). These compounds safely scavenge free radicals to halt the oxidation of lipids</a:t>
            </a:r>
            <a:endParaRPr lang="en-IN" dirty="0">
              <a:solidFill>
                <a:schemeClr val="bg1"/>
              </a:solidFill>
              <a:latin typeface="Gotham" panose="02000504050000020004" pitchFamily="2" charset="0"/>
            </a:endParaRPr>
          </a:p>
        </p:txBody>
      </p:sp>
      <p:pic>
        <p:nvPicPr>
          <p:cNvPr id="20" name="Picture 19">
            <a:extLst>
              <a:ext uri="{FF2B5EF4-FFF2-40B4-BE49-F238E27FC236}">
                <a16:creationId xmlns:a16="http://schemas.microsoft.com/office/drawing/2014/main" id="{82700EB1-51DA-3EA4-8A79-AAE44CCD974F}"/>
              </a:ext>
            </a:extLst>
          </p:cNvPr>
          <p:cNvPicPr>
            <a:picLocks noChangeAspect="1"/>
          </p:cNvPicPr>
          <p:nvPr/>
        </p:nvPicPr>
        <p:blipFill>
          <a:blip r:embed="rId4"/>
          <a:stretch>
            <a:fillRect/>
          </a:stretch>
        </p:blipFill>
        <p:spPr>
          <a:xfrm>
            <a:off x="9439890" y="4718999"/>
            <a:ext cx="1659194" cy="165919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2" name="TextBox 21">
            <a:extLst>
              <a:ext uri="{FF2B5EF4-FFF2-40B4-BE49-F238E27FC236}">
                <a16:creationId xmlns:a16="http://schemas.microsoft.com/office/drawing/2014/main" id="{001404FE-8803-33A9-C163-39E0DF32B75E}"/>
              </a:ext>
            </a:extLst>
          </p:cNvPr>
          <p:cNvSpPr txBox="1"/>
          <p:nvPr/>
        </p:nvSpPr>
        <p:spPr>
          <a:xfrm>
            <a:off x="135656" y="4782497"/>
            <a:ext cx="7931864" cy="1200329"/>
          </a:xfrm>
          <a:prstGeom prst="rect">
            <a:avLst/>
          </a:prstGeom>
          <a:noFill/>
        </p:spPr>
        <p:txBody>
          <a:bodyPr wrap="square">
            <a:spAutoFit/>
          </a:bodyPr>
          <a:lstStyle>
            <a:defPPr>
              <a:defRPr lang="en-US"/>
            </a:defPPr>
            <a:lvl1pPr marL="285750" indent="-285750">
              <a:buFont typeface="Arial" panose="020B0604020202020204" pitchFamily="34" charset="0"/>
              <a:buChar char="•"/>
              <a:defRPr b="1">
                <a:solidFill>
                  <a:schemeClr val="bg1"/>
                </a:solidFill>
                <a:latin typeface="Gotham" panose="02000504050000020004" pitchFamily="2" charset="0"/>
              </a:defRPr>
            </a:lvl1pPr>
          </a:lstStyle>
          <a:p>
            <a:pPr algn="just"/>
            <a:r>
              <a:rPr lang="en-US" dirty="0"/>
              <a:t>Inert Gas Flushing: </a:t>
            </a:r>
            <a:r>
              <a:rPr lang="en-US" b="0" dirty="0"/>
              <a:t>Food manufacturers (like potato chip brands) replace oxygen in packages with nitrogen or helium. This creates an oxygen-free environment, stopping oxidation </a:t>
            </a:r>
            <a:r>
              <a:rPr lang="en-IN" b="0" dirty="0"/>
              <a:t>Inert Gas Flushing:</a:t>
            </a:r>
          </a:p>
        </p:txBody>
      </p:sp>
    </p:spTree>
    <p:extLst>
      <p:ext uri="{BB962C8B-B14F-4D97-AF65-F5344CB8AC3E}">
        <p14:creationId xmlns:p14="http://schemas.microsoft.com/office/powerpoint/2010/main" val="36908683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ink Glow GIF by Erica Anderson"/>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011891" cy="6858000"/>
          </a:xfrm>
          <a:prstGeom prst="rect">
            <a:avLst/>
          </a:prstGeom>
          <a:noFill/>
          <a:extLst>
            <a:ext uri="{909E8E84-426E-40DD-AFC4-6F175D3DCCD1}">
              <a14:hiddenFill xmlns:a14="http://schemas.microsoft.com/office/drawing/2010/main">
                <a:solidFill>
                  <a:srgbClr val="FFFFFF"/>
                </a:solidFill>
              </a14:hiddenFill>
            </a:ext>
          </a:extLst>
        </p:spPr>
      </p:pic>
      <p:sp>
        <p:nvSpPr>
          <p:cNvPr id="7" name="Freeform 6"/>
          <p:cNvSpPr/>
          <p:nvPr/>
        </p:nvSpPr>
        <p:spPr>
          <a:xfrm>
            <a:off x="0" y="0"/>
            <a:ext cx="12192000" cy="6858000"/>
          </a:xfrm>
          <a:custGeom>
            <a:avLst/>
            <a:gdLst/>
            <a:ahLst/>
            <a:cxnLst/>
            <a:rect l="l" t="t" r="r" b="b"/>
            <a:pathLst>
              <a:path w="12192000" h="6858000">
                <a:moveTo>
                  <a:pt x="9696357" y="3904074"/>
                </a:moveTo>
                <a:cubicBezTo>
                  <a:pt x="9793956" y="3907336"/>
                  <a:pt x="9868352" y="3940587"/>
                  <a:pt x="9919545" y="4003826"/>
                </a:cubicBezTo>
                <a:cubicBezTo>
                  <a:pt x="9970737" y="4067065"/>
                  <a:pt x="9996518" y="4140721"/>
                  <a:pt x="9996886" y="4224795"/>
                </a:cubicBezTo>
                <a:cubicBezTo>
                  <a:pt x="9996623" y="4309078"/>
                  <a:pt x="9971264" y="4383576"/>
                  <a:pt x="9920808" y="4448289"/>
                </a:cubicBezTo>
                <a:cubicBezTo>
                  <a:pt x="9870352" y="4513001"/>
                  <a:pt x="9796376" y="4547093"/>
                  <a:pt x="9698883" y="4550566"/>
                </a:cubicBezTo>
                <a:cubicBezTo>
                  <a:pt x="9601389" y="4547093"/>
                  <a:pt x="9527414" y="4513001"/>
                  <a:pt x="9476957" y="4448289"/>
                </a:cubicBezTo>
                <a:cubicBezTo>
                  <a:pt x="9426500" y="4383576"/>
                  <a:pt x="9401140" y="4309078"/>
                  <a:pt x="9400877" y="4224795"/>
                </a:cubicBezTo>
                <a:cubicBezTo>
                  <a:pt x="9401035" y="4140721"/>
                  <a:pt x="9425974" y="4067065"/>
                  <a:pt x="9475694" y="4003826"/>
                </a:cubicBezTo>
                <a:cubicBezTo>
                  <a:pt x="9525414" y="3940587"/>
                  <a:pt x="9598969" y="3907336"/>
                  <a:pt x="9696357" y="3904074"/>
                </a:cubicBezTo>
                <a:close/>
                <a:moveTo>
                  <a:pt x="10641014" y="3601495"/>
                </a:moveTo>
                <a:lnTo>
                  <a:pt x="10641014" y="4378925"/>
                </a:lnTo>
                <a:cubicBezTo>
                  <a:pt x="10640391" y="4464718"/>
                  <a:pt x="10654809" y="4546573"/>
                  <a:pt x="10684268" y="4624491"/>
                </a:cubicBezTo>
                <a:cubicBezTo>
                  <a:pt x="10713726" y="4702410"/>
                  <a:pt x="10761965" y="4766309"/>
                  <a:pt x="10828984" y="4816190"/>
                </a:cubicBezTo>
                <a:cubicBezTo>
                  <a:pt x="10896002" y="4866070"/>
                  <a:pt x="10985540" y="4891851"/>
                  <a:pt x="11097597" y="4893531"/>
                </a:cubicBezTo>
                <a:cubicBezTo>
                  <a:pt x="11187115" y="4891745"/>
                  <a:pt x="11265108" y="4870730"/>
                  <a:pt x="11331574" y="4830486"/>
                </a:cubicBezTo>
                <a:cubicBezTo>
                  <a:pt x="11398039" y="4790242"/>
                  <a:pt x="11446346" y="4741487"/>
                  <a:pt x="11476492" y="4684221"/>
                </a:cubicBezTo>
                <a:lnTo>
                  <a:pt x="11481536" y="4684221"/>
                </a:lnTo>
                <a:lnTo>
                  <a:pt x="11481536" y="4858193"/>
                </a:lnTo>
                <a:lnTo>
                  <a:pt x="11880044" y="4858193"/>
                </a:lnTo>
                <a:lnTo>
                  <a:pt x="11880044" y="3601495"/>
                </a:lnTo>
                <a:lnTo>
                  <a:pt x="11466403" y="3601495"/>
                </a:lnTo>
                <a:lnTo>
                  <a:pt x="11466403" y="4280484"/>
                </a:lnTo>
                <a:cubicBezTo>
                  <a:pt x="11466140" y="4354683"/>
                  <a:pt x="11447090" y="4417681"/>
                  <a:pt x="11409252" y="4469478"/>
                </a:cubicBezTo>
                <a:cubicBezTo>
                  <a:pt x="11371414" y="4521275"/>
                  <a:pt x="11316366" y="4548304"/>
                  <a:pt x="11244110" y="4550566"/>
                </a:cubicBezTo>
                <a:cubicBezTo>
                  <a:pt x="11170012" y="4548252"/>
                  <a:pt x="11119911" y="4521328"/>
                  <a:pt x="11093808" y="4469794"/>
                </a:cubicBezTo>
                <a:cubicBezTo>
                  <a:pt x="11067705" y="4418259"/>
                  <a:pt x="11055495" y="4355998"/>
                  <a:pt x="11057179" y="4283008"/>
                </a:cubicBezTo>
                <a:lnTo>
                  <a:pt x="11057179" y="3601495"/>
                </a:lnTo>
                <a:close/>
                <a:moveTo>
                  <a:pt x="7470142" y="3601495"/>
                </a:moveTo>
                <a:lnTo>
                  <a:pt x="7995048" y="4838316"/>
                </a:lnTo>
                <a:lnTo>
                  <a:pt x="7954670" y="4941805"/>
                </a:lnTo>
                <a:cubicBezTo>
                  <a:pt x="7936217" y="4996337"/>
                  <a:pt x="7911927" y="5038090"/>
                  <a:pt x="7881802" y="5067065"/>
                </a:cubicBezTo>
                <a:cubicBezTo>
                  <a:pt x="7851677" y="5096040"/>
                  <a:pt x="7805306" y="5110659"/>
                  <a:pt x="7742689" y="5110921"/>
                </a:cubicBezTo>
                <a:cubicBezTo>
                  <a:pt x="7721975" y="5110764"/>
                  <a:pt x="7699683" y="5108555"/>
                  <a:pt x="7675814" y="5104296"/>
                </a:cubicBezTo>
                <a:cubicBezTo>
                  <a:pt x="7651945" y="5100036"/>
                  <a:pt x="7629654" y="5094672"/>
                  <a:pt x="7608939" y="5088204"/>
                </a:cubicBezTo>
                <a:lnTo>
                  <a:pt x="7563515" y="5436243"/>
                </a:lnTo>
                <a:cubicBezTo>
                  <a:pt x="7594586" y="5444019"/>
                  <a:pt x="7630232" y="5450533"/>
                  <a:pt x="7670452" y="5455788"/>
                </a:cubicBezTo>
                <a:cubicBezTo>
                  <a:pt x="7710671" y="5461041"/>
                  <a:pt x="7750733" y="5463773"/>
                  <a:pt x="7790637" y="5463984"/>
                </a:cubicBezTo>
                <a:cubicBezTo>
                  <a:pt x="7945365" y="5463039"/>
                  <a:pt x="8064289" y="5426470"/>
                  <a:pt x="8147409" y="5354275"/>
                </a:cubicBezTo>
                <a:cubicBezTo>
                  <a:pt x="8230530" y="5282081"/>
                  <a:pt x="8295828" y="5179929"/>
                  <a:pt x="8343303" y="5047818"/>
                </a:cubicBezTo>
                <a:lnTo>
                  <a:pt x="8906053" y="3601495"/>
                </a:lnTo>
                <a:lnTo>
                  <a:pt x="8466958" y="3601495"/>
                </a:lnTo>
                <a:lnTo>
                  <a:pt x="8217123" y="4409215"/>
                </a:lnTo>
                <a:lnTo>
                  <a:pt x="8209553" y="4409215"/>
                </a:lnTo>
                <a:lnTo>
                  <a:pt x="7929435" y="3601495"/>
                </a:lnTo>
                <a:close/>
                <a:moveTo>
                  <a:pt x="9696357" y="3561109"/>
                </a:moveTo>
                <a:cubicBezTo>
                  <a:pt x="9568534" y="3561682"/>
                  <a:pt x="9452237" y="3588555"/>
                  <a:pt x="9347466" y="3641730"/>
                </a:cubicBezTo>
                <a:cubicBezTo>
                  <a:pt x="9242695" y="3694904"/>
                  <a:pt x="9158964" y="3770939"/>
                  <a:pt x="9096272" y="3869836"/>
                </a:cubicBezTo>
                <a:cubicBezTo>
                  <a:pt x="9033581" y="3968733"/>
                  <a:pt x="9001442" y="4087053"/>
                  <a:pt x="8999857" y="4224795"/>
                </a:cubicBezTo>
                <a:cubicBezTo>
                  <a:pt x="9001442" y="4362663"/>
                  <a:pt x="9033581" y="4481856"/>
                  <a:pt x="9096272" y="4582374"/>
                </a:cubicBezTo>
                <a:cubicBezTo>
                  <a:pt x="9158964" y="4682892"/>
                  <a:pt x="9242695" y="4760547"/>
                  <a:pt x="9347466" y="4815342"/>
                </a:cubicBezTo>
                <a:cubicBezTo>
                  <a:pt x="9452237" y="4870136"/>
                  <a:pt x="9568534" y="4897882"/>
                  <a:pt x="9696357" y="4898579"/>
                </a:cubicBezTo>
                <a:cubicBezTo>
                  <a:pt x="9825006" y="4897882"/>
                  <a:pt x="9941895" y="4870136"/>
                  <a:pt x="10047024" y="4815342"/>
                </a:cubicBezTo>
                <a:cubicBezTo>
                  <a:pt x="10152154" y="4760547"/>
                  <a:pt x="10236103" y="4682892"/>
                  <a:pt x="10298873" y="4582374"/>
                </a:cubicBezTo>
                <a:cubicBezTo>
                  <a:pt x="10361642" y="4481856"/>
                  <a:pt x="10393812" y="4362663"/>
                  <a:pt x="10395382" y="4224795"/>
                </a:cubicBezTo>
                <a:cubicBezTo>
                  <a:pt x="10393812" y="4087053"/>
                  <a:pt x="10361642" y="3968733"/>
                  <a:pt x="10298873" y="3869836"/>
                </a:cubicBezTo>
                <a:cubicBezTo>
                  <a:pt x="10236103" y="3770939"/>
                  <a:pt x="10152154" y="3694904"/>
                  <a:pt x="10047024" y="3641730"/>
                </a:cubicBezTo>
                <a:cubicBezTo>
                  <a:pt x="9941895" y="3588555"/>
                  <a:pt x="9825006" y="3561682"/>
                  <a:pt x="9696357" y="3561109"/>
                </a:cubicBezTo>
                <a:close/>
                <a:moveTo>
                  <a:pt x="3923515" y="2733103"/>
                </a:moveTo>
                <a:lnTo>
                  <a:pt x="3976560" y="2733103"/>
                </a:lnTo>
                <a:lnTo>
                  <a:pt x="3976560" y="2776058"/>
                </a:lnTo>
                <a:cubicBezTo>
                  <a:pt x="3976139" y="2855336"/>
                  <a:pt x="3953616" y="2917874"/>
                  <a:pt x="3908991" y="2963671"/>
                </a:cubicBezTo>
                <a:cubicBezTo>
                  <a:pt x="3864366" y="3009470"/>
                  <a:pt x="3800165" y="3032842"/>
                  <a:pt x="3716389" y="3033790"/>
                </a:cubicBezTo>
                <a:cubicBezTo>
                  <a:pt x="3672447" y="3034422"/>
                  <a:pt x="3632138" y="3024946"/>
                  <a:pt x="3595459" y="3005363"/>
                </a:cubicBezTo>
                <a:cubicBezTo>
                  <a:pt x="3558780" y="2985781"/>
                  <a:pt x="3539310" y="2952301"/>
                  <a:pt x="3537047" y="2904924"/>
                </a:cubicBezTo>
                <a:cubicBezTo>
                  <a:pt x="3538450" y="2855870"/>
                  <a:pt x="3558377" y="2818935"/>
                  <a:pt x="3596827" y="2794120"/>
                </a:cubicBezTo>
                <a:cubicBezTo>
                  <a:pt x="3635278" y="2769304"/>
                  <a:pt x="3683831" y="2752771"/>
                  <a:pt x="3742489" y="2744520"/>
                </a:cubicBezTo>
                <a:cubicBezTo>
                  <a:pt x="3801147" y="2736269"/>
                  <a:pt x="3861489" y="2732464"/>
                  <a:pt x="3923515" y="2733103"/>
                </a:cubicBezTo>
                <a:close/>
                <a:moveTo>
                  <a:pt x="5445665" y="1988802"/>
                </a:moveTo>
                <a:cubicBezTo>
                  <a:pt x="5357357" y="1990588"/>
                  <a:pt x="5280101" y="2011603"/>
                  <a:pt x="5213898" y="2051847"/>
                </a:cubicBezTo>
                <a:cubicBezTo>
                  <a:pt x="5147695" y="2092091"/>
                  <a:pt x="5099493" y="2140846"/>
                  <a:pt x="5069291" y="2198112"/>
                </a:cubicBezTo>
                <a:lnTo>
                  <a:pt x="5064246" y="2198112"/>
                </a:lnTo>
                <a:lnTo>
                  <a:pt x="5064246" y="2024109"/>
                </a:lnTo>
                <a:lnTo>
                  <a:pt x="4663217" y="2024109"/>
                </a:lnTo>
                <a:lnTo>
                  <a:pt x="4663217" y="3280839"/>
                </a:lnTo>
                <a:lnTo>
                  <a:pt x="5079382" y="3280839"/>
                </a:lnTo>
                <a:lnTo>
                  <a:pt x="5079382" y="2599325"/>
                </a:lnTo>
                <a:cubicBezTo>
                  <a:pt x="5079487" y="2525126"/>
                  <a:pt x="5098222" y="2462128"/>
                  <a:pt x="5135588" y="2410331"/>
                </a:cubicBezTo>
                <a:cubicBezTo>
                  <a:pt x="5172953" y="2358534"/>
                  <a:pt x="5228316" y="2331505"/>
                  <a:pt x="5301678" y="2329243"/>
                </a:cubicBezTo>
                <a:cubicBezTo>
                  <a:pt x="5374671" y="2331610"/>
                  <a:pt x="5424456" y="2358429"/>
                  <a:pt x="5451031" y="2409700"/>
                </a:cubicBezTo>
                <a:cubicBezTo>
                  <a:pt x="5477608" y="2460971"/>
                  <a:pt x="5490132" y="2522497"/>
                  <a:pt x="5488606" y="2594276"/>
                </a:cubicBezTo>
                <a:lnTo>
                  <a:pt x="5488606" y="3280839"/>
                </a:lnTo>
                <a:lnTo>
                  <a:pt x="5904771" y="3280839"/>
                </a:lnTo>
                <a:lnTo>
                  <a:pt x="5904771" y="2503408"/>
                </a:lnTo>
                <a:cubicBezTo>
                  <a:pt x="5905362" y="2417615"/>
                  <a:pt x="5890727" y="2335759"/>
                  <a:pt x="5860863" y="2257841"/>
                </a:cubicBezTo>
                <a:cubicBezTo>
                  <a:pt x="5830999" y="2179922"/>
                  <a:pt x="5782356" y="2116024"/>
                  <a:pt x="5714932" y="2066143"/>
                </a:cubicBezTo>
                <a:cubicBezTo>
                  <a:pt x="5647507" y="2016263"/>
                  <a:pt x="5557752" y="1990482"/>
                  <a:pt x="5445665" y="1988802"/>
                </a:cubicBezTo>
                <a:close/>
                <a:moveTo>
                  <a:pt x="3777011" y="1983754"/>
                </a:moveTo>
                <a:cubicBezTo>
                  <a:pt x="3673296" y="1983911"/>
                  <a:pt x="3572629" y="2001877"/>
                  <a:pt x="3475009" y="2037651"/>
                </a:cubicBezTo>
                <a:cubicBezTo>
                  <a:pt x="3377389" y="2073426"/>
                  <a:pt x="3291302" y="2126063"/>
                  <a:pt x="3216749" y="2195563"/>
                </a:cubicBezTo>
                <a:lnTo>
                  <a:pt x="3426078" y="2420313"/>
                </a:lnTo>
                <a:cubicBezTo>
                  <a:pt x="3464698" y="2383973"/>
                  <a:pt x="3511069" y="2353636"/>
                  <a:pt x="3565190" y="2329303"/>
                </a:cubicBezTo>
                <a:cubicBezTo>
                  <a:pt x="3619311" y="2304970"/>
                  <a:pt x="3676447" y="2292330"/>
                  <a:pt x="3736596" y="2291381"/>
                </a:cubicBezTo>
                <a:cubicBezTo>
                  <a:pt x="3802428" y="2291224"/>
                  <a:pt x="3856420" y="2306077"/>
                  <a:pt x="3898571" y="2335939"/>
                </a:cubicBezTo>
                <a:cubicBezTo>
                  <a:pt x="3940723" y="2365802"/>
                  <a:pt x="3962509" y="2411623"/>
                  <a:pt x="3963930" y="2473402"/>
                </a:cubicBezTo>
                <a:lnTo>
                  <a:pt x="3963930" y="2493627"/>
                </a:lnTo>
                <a:cubicBezTo>
                  <a:pt x="3838654" y="2492130"/>
                  <a:pt x="3714591" y="2501846"/>
                  <a:pt x="3591742" y="2522772"/>
                </a:cubicBezTo>
                <a:cubicBezTo>
                  <a:pt x="3468891" y="2543699"/>
                  <a:pt x="3366389" y="2584816"/>
                  <a:pt x="3284235" y="2646125"/>
                </a:cubicBezTo>
                <a:cubicBezTo>
                  <a:pt x="3202080" y="2707432"/>
                  <a:pt x="3159409" y="2797910"/>
                  <a:pt x="3156219" y="2917558"/>
                </a:cubicBezTo>
                <a:cubicBezTo>
                  <a:pt x="3158165" y="3015363"/>
                  <a:pt x="3182858" y="3093114"/>
                  <a:pt x="3230297" y="3150813"/>
                </a:cubicBezTo>
                <a:cubicBezTo>
                  <a:pt x="3277737" y="3208511"/>
                  <a:pt x="3336252" y="3249807"/>
                  <a:pt x="3405843" y="3274700"/>
                </a:cubicBezTo>
                <a:cubicBezTo>
                  <a:pt x="3475433" y="3299594"/>
                  <a:pt x="3544427" y="3311737"/>
                  <a:pt x="3612825" y="3311128"/>
                </a:cubicBezTo>
                <a:cubicBezTo>
                  <a:pt x="3688919" y="3310760"/>
                  <a:pt x="3759013" y="3296368"/>
                  <a:pt x="3823109" y="3267951"/>
                </a:cubicBezTo>
                <a:cubicBezTo>
                  <a:pt x="3887204" y="3239534"/>
                  <a:pt x="3935829" y="3199299"/>
                  <a:pt x="3968982" y="3147245"/>
                </a:cubicBezTo>
                <a:lnTo>
                  <a:pt x="3976560" y="3147245"/>
                </a:lnTo>
                <a:lnTo>
                  <a:pt x="3976560" y="3280839"/>
                </a:lnTo>
                <a:lnTo>
                  <a:pt x="4354863" y="3280839"/>
                </a:lnTo>
                <a:lnTo>
                  <a:pt x="4354863" y="2647396"/>
                </a:lnTo>
                <a:cubicBezTo>
                  <a:pt x="4357129" y="2419861"/>
                  <a:pt x="4313506" y="2252144"/>
                  <a:pt x="4223994" y="2144246"/>
                </a:cubicBezTo>
                <a:cubicBezTo>
                  <a:pt x="4134483" y="2036348"/>
                  <a:pt x="3985488" y="1982851"/>
                  <a:pt x="3777011" y="1983754"/>
                </a:cubicBezTo>
                <a:close/>
                <a:moveTo>
                  <a:pt x="104219" y="1494074"/>
                </a:moveTo>
                <a:lnTo>
                  <a:pt x="104219" y="1862280"/>
                </a:lnTo>
                <a:lnTo>
                  <a:pt x="609044" y="1862280"/>
                </a:lnTo>
                <a:lnTo>
                  <a:pt x="609044" y="3280839"/>
                </a:lnTo>
                <a:lnTo>
                  <a:pt x="1040354" y="3280839"/>
                </a:lnTo>
                <a:lnTo>
                  <a:pt x="1040354" y="1862280"/>
                </a:lnTo>
                <a:lnTo>
                  <a:pt x="1545179" y="1862280"/>
                </a:lnTo>
                <a:lnTo>
                  <a:pt x="1545179" y="1494074"/>
                </a:lnTo>
                <a:close/>
                <a:moveTo>
                  <a:pt x="1677416" y="1372916"/>
                </a:moveTo>
                <a:lnTo>
                  <a:pt x="1677416" y="3280839"/>
                </a:lnTo>
                <a:lnTo>
                  <a:pt x="2091057" y="3280839"/>
                </a:lnTo>
                <a:lnTo>
                  <a:pt x="2091057" y="2601849"/>
                </a:lnTo>
                <a:cubicBezTo>
                  <a:pt x="2091425" y="2525547"/>
                  <a:pt x="2110897" y="2462338"/>
                  <a:pt x="2149473" y="2412224"/>
                </a:cubicBezTo>
                <a:cubicBezTo>
                  <a:pt x="2188048" y="2362110"/>
                  <a:pt x="2243517" y="2336132"/>
                  <a:pt x="2315879" y="2334292"/>
                </a:cubicBezTo>
                <a:cubicBezTo>
                  <a:pt x="2388767" y="2336500"/>
                  <a:pt x="2438130" y="2363004"/>
                  <a:pt x="2463969" y="2413802"/>
                </a:cubicBezTo>
                <a:cubicBezTo>
                  <a:pt x="2489808" y="2464600"/>
                  <a:pt x="2501912" y="2526441"/>
                  <a:pt x="2500281" y="2599325"/>
                </a:cubicBezTo>
                <a:lnTo>
                  <a:pt x="2500281" y="3280839"/>
                </a:lnTo>
                <a:lnTo>
                  <a:pt x="2916446" y="3280839"/>
                </a:lnTo>
                <a:lnTo>
                  <a:pt x="2916446" y="2503408"/>
                </a:lnTo>
                <a:cubicBezTo>
                  <a:pt x="2917084" y="2417616"/>
                  <a:pt x="2902635" y="2335760"/>
                  <a:pt x="2873098" y="2257842"/>
                </a:cubicBezTo>
                <a:cubicBezTo>
                  <a:pt x="2843561" y="2179924"/>
                  <a:pt x="2795104" y="2116024"/>
                  <a:pt x="2727727" y="2066144"/>
                </a:cubicBezTo>
                <a:cubicBezTo>
                  <a:pt x="2660350" y="2016263"/>
                  <a:pt x="2570221" y="1990482"/>
                  <a:pt x="2457340" y="1988802"/>
                </a:cubicBezTo>
                <a:cubicBezTo>
                  <a:pt x="2369506" y="1990588"/>
                  <a:pt x="2294460" y="2010343"/>
                  <a:pt x="2232202" y="2048065"/>
                </a:cubicBezTo>
                <a:cubicBezTo>
                  <a:pt x="2169944" y="2085788"/>
                  <a:pt x="2124580" y="2130760"/>
                  <a:pt x="2096109" y="2182983"/>
                </a:cubicBezTo>
                <a:lnTo>
                  <a:pt x="2091057" y="2182983"/>
                </a:lnTo>
                <a:lnTo>
                  <a:pt x="2091057" y="1372916"/>
                </a:lnTo>
                <a:close/>
                <a:moveTo>
                  <a:pt x="6218316" y="1372600"/>
                </a:moveTo>
                <a:lnTo>
                  <a:pt x="6218316" y="3280839"/>
                </a:lnTo>
                <a:lnTo>
                  <a:pt x="6634481" y="3280839"/>
                </a:lnTo>
                <a:lnTo>
                  <a:pt x="6634481" y="2677573"/>
                </a:lnTo>
                <a:lnTo>
                  <a:pt x="6642054" y="2677573"/>
                </a:lnTo>
                <a:lnTo>
                  <a:pt x="7053486" y="3280839"/>
                </a:lnTo>
                <a:lnTo>
                  <a:pt x="7565883" y="3280839"/>
                </a:lnTo>
                <a:lnTo>
                  <a:pt x="7061058" y="2591752"/>
                </a:lnTo>
                <a:lnTo>
                  <a:pt x="7545690" y="2023824"/>
                </a:lnTo>
                <a:lnTo>
                  <a:pt x="7043390" y="2023824"/>
                </a:lnTo>
                <a:lnTo>
                  <a:pt x="6642054" y="2533697"/>
                </a:lnTo>
                <a:lnTo>
                  <a:pt x="6634481" y="2533697"/>
                </a:lnTo>
                <a:lnTo>
                  <a:pt x="6634481" y="1372600"/>
                </a:lnTo>
                <a:close/>
                <a:moveTo>
                  <a:pt x="0" y="0"/>
                </a:moveTo>
                <a:lnTo>
                  <a:pt x="12192000" y="0"/>
                </a:lnTo>
                <a:lnTo>
                  <a:pt x="12192000" y="6858000"/>
                </a:lnTo>
                <a:lnTo>
                  <a:pt x="0" y="6858000"/>
                </a:lnTo>
                <a:close/>
              </a:path>
            </a:pathLst>
          </a:cu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921361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207</TotalTime>
  <Words>548</Words>
  <Application>Microsoft Office PowerPoint</Application>
  <PresentationFormat>Widescreen</PresentationFormat>
  <Paragraphs>50</Paragraphs>
  <Slides>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Aptos</vt:lpstr>
      <vt:lpstr>Aptos Display</vt:lpstr>
      <vt:lpstr>Arial</vt:lpstr>
      <vt:lpstr>Gotham</vt:lpstr>
      <vt:lpstr>Gotham Black</vt:lpstr>
      <vt:lpstr>Gotham Thin</vt:lpstr>
      <vt:lpstr>Gotham Ultra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Jovan Fernandes</dc:creator>
  <cp:lastModifiedBy>Jovan Fernandes</cp:lastModifiedBy>
  <cp:revision>3</cp:revision>
  <dcterms:created xsi:type="dcterms:W3CDTF">2026-05-14T16:59:15Z</dcterms:created>
  <dcterms:modified xsi:type="dcterms:W3CDTF">2026-06-01T18:34:55Z</dcterms:modified>
</cp:coreProperties>
</file>